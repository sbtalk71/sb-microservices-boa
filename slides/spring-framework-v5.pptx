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  <p:sldMasterId id="2147483737" r:id="rId2"/>
    <p:sldMasterId id="2147483750" r:id="rId3"/>
  </p:sldMasterIdLst>
  <p:notesMasterIdLst>
    <p:notesMasterId r:id="rId45"/>
  </p:notesMasterIdLst>
  <p:sldIdLst>
    <p:sldId id="256" r:id="rId4"/>
    <p:sldId id="259" r:id="rId5"/>
    <p:sldId id="258" r:id="rId6"/>
    <p:sldId id="260" r:id="rId7"/>
    <p:sldId id="261" r:id="rId8"/>
    <p:sldId id="277" r:id="rId9"/>
    <p:sldId id="262" r:id="rId10"/>
    <p:sldId id="263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377" r:id="rId20"/>
    <p:sldId id="370" r:id="rId21"/>
    <p:sldId id="374" r:id="rId22"/>
    <p:sldId id="375" r:id="rId23"/>
    <p:sldId id="361" r:id="rId24"/>
    <p:sldId id="364" r:id="rId25"/>
    <p:sldId id="376" r:id="rId26"/>
    <p:sldId id="276" r:id="rId27"/>
    <p:sldId id="273" r:id="rId28"/>
    <p:sldId id="378" r:id="rId29"/>
    <p:sldId id="380" r:id="rId30"/>
    <p:sldId id="381" r:id="rId31"/>
    <p:sldId id="379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390" r:id="rId41"/>
    <p:sldId id="391" r:id="rId42"/>
    <p:sldId id="392" r:id="rId43"/>
    <p:sldId id="393" r:id="rId4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42" autoAdjust="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A363E-8A22-4EE8-A7AB-7196547DACCB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80DB1-AB96-498C-B736-E431D94F8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36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80DB1-AB96-498C-B736-E431D94F8F88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0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1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1715A23-0C21-4D80-A5F2-AFC3CFC6956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127" name="AutoShape 7"/>
          <p:cNvSpPr>
            <a:spLocks noChangeArrowheads="1"/>
          </p:cNvSpPr>
          <p:nvPr userDrawn="1"/>
        </p:nvSpPr>
        <p:spPr bwMode="auto">
          <a:xfrm>
            <a:off x="914400" y="2393950"/>
            <a:ext cx="103632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EEB000"/>
          </a:solidFill>
          <a:ln w="9525">
            <a:solidFill>
              <a:srgbClr val="EEB000"/>
            </a:solidFill>
            <a:round/>
            <a:headEnd/>
            <a:tailEnd/>
          </a:ln>
        </p:spPr>
        <p:txBody>
          <a:bodyPr/>
          <a:lstStyle/>
          <a:p>
            <a:pPr eaLnBrk="1" hangingPunct="1"/>
            <a:endParaRPr 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90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961533"/>
            <a:ext cx="10883769" cy="5283691"/>
          </a:xfrm>
        </p:spPr>
        <p:txBody>
          <a:bodyPr/>
          <a:lstStyle>
            <a:lvl1pPr>
              <a:buClr>
                <a:srgbClr val="003054"/>
              </a:buClr>
              <a:defRPr/>
            </a:lvl1pPr>
            <a:lvl2pPr marL="908050" indent="-436563">
              <a:buClr>
                <a:srgbClr val="003054"/>
              </a:buClr>
              <a:buFont typeface="Wingdings" panose="05000000000000000000" pitchFamily="2" charset="2"/>
              <a:buChar char="Ø"/>
              <a:defRPr/>
            </a:lvl2pPr>
            <a:lvl3pPr marL="1304925" indent="-395288">
              <a:buClr>
                <a:srgbClr val="003054"/>
              </a:buClr>
              <a:buFont typeface="Wingdings" panose="05000000000000000000" pitchFamily="2" charset="2"/>
              <a:buChar char="§"/>
              <a:defRPr/>
            </a:lvl3pPr>
            <a:lvl4pPr>
              <a:buClr>
                <a:srgbClr val="003054"/>
              </a:buClr>
              <a:defRPr/>
            </a:lvl4pPr>
            <a:lvl5pPr>
              <a:buClr>
                <a:srgbClr val="003054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5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4DEA91B-3929-4BE6-A39F-1186E14C67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66800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295400"/>
            <a:ext cx="52324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295400"/>
            <a:ext cx="52324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04912A2-6C8B-44D9-A267-9CED0BC844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9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F9247B3-5481-484C-A75B-3A92494ED4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1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AFF115F-406D-4E9C-AC94-99A428B3033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8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C63656E-6B67-4AC1-87C7-B14879E4CA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0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0E07571-C3AE-4769-9C93-C31661DDAE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B704826-A4CC-4DAE-B5ED-31391AD479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668000" cy="914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99C984-7FB8-4134-B9F3-F3A258C6F0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3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01101" y="152400"/>
            <a:ext cx="2679700" cy="60198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2" y="152400"/>
            <a:ext cx="7842249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97626"/>
            <a:ext cx="2641600" cy="307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CF6347D-AEAF-4CAD-90A9-80AB94A96E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2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035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75CAC0-C61D-4BA1-9EE7-987D442869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6F3835C8-2B28-13B4-0E87-2B065EA725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400" y="2393950"/>
            <a:ext cx="10363200" cy="109538"/>
          </a:xfrm>
          <a:custGeom>
            <a:avLst/>
            <a:gdLst>
              <a:gd name="G0" fmla="+- 618 0 0"/>
              <a:gd name="T0" fmla="*/ 0 w 1000"/>
              <a:gd name="T1" fmla="*/ 0 h 1000"/>
              <a:gd name="T2" fmla="*/ 618 w 1000"/>
              <a:gd name="T3" fmla="*/ 0 h 1000"/>
              <a:gd name="T4" fmla="*/ 618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EEB000"/>
          </a:solidFill>
          <a:ln w="9525">
            <a:solidFill>
              <a:srgbClr val="EEB000"/>
            </a:solidFill>
            <a:round/>
            <a:headEnd/>
            <a:tailEnd/>
          </a:ln>
        </p:spPr>
        <p:txBody>
          <a:bodyPr/>
          <a:lstStyle/>
          <a:p>
            <a:pPr eaLnBrk="1" hangingPunct="1"/>
            <a:endParaRPr 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91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940BC-09D8-4381-B008-EA614523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92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C9D9E-E746-4ECB-931B-ECB6CC0E3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98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295400"/>
            <a:ext cx="523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295400"/>
            <a:ext cx="523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4C8E7-2345-468D-8B7B-2FF0404D9E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06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3F7A3-DB35-4E28-8409-565FDA832F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89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4883A-CABA-4FC8-9352-895281BE4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70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79368-6B26-456F-B628-B4CE01190B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28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79354-058F-4605-B920-A3B9D8728A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67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1BE05-03A0-4F3A-8282-C021E9A7C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78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DB246-C912-4A60-84DF-6DAB8001E4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282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01101" y="152400"/>
            <a:ext cx="26797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2" y="152400"/>
            <a:ext cx="7842249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F604E-B23F-423C-B928-32D0B735C9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111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6680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55651" y="1295400"/>
            <a:ext cx="10668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651" y="3810000"/>
            <a:ext cx="10668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19100-3C1F-4566-9A7F-9C650A424A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749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314299689 h 1000"/>
              <a:gd name="T6" fmla="*/ 0 w 1000"/>
              <a:gd name="T7" fmla="*/ 1314299689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C000"/>
          </a:solidFill>
          <a:ln w="9525">
            <a:solidFill>
              <a:srgbClr val="8BBC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3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75CAC0-C61D-4BA1-9EE7-987D442869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46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940BC-09D8-4381-B008-EA614523CD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786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7C9D9E-E746-4ECB-931B-ECB6CC0E3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176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295400"/>
            <a:ext cx="523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295400"/>
            <a:ext cx="523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4C8E7-2345-468D-8B7B-2FF0404D9E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513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3F7A3-DB35-4E28-8409-565FDA832F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90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4883A-CABA-4FC8-9352-895281BE4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3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F79368-6B26-456F-B628-B4CE01190B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04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79354-058F-4605-B920-A3B9D8728A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3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1BE05-03A0-4F3A-8282-C021E9A7C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529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DB246-C912-4A60-84DF-6DAB8001E4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8296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01101" y="152400"/>
            <a:ext cx="26797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2" y="152400"/>
            <a:ext cx="7842249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F604E-B23F-423C-B928-32D0B735C9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257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6680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55651" y="1295400"/>
            <a:ext cx="10668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651" y="3810000"/>
            <a:ext cx="10668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19100-3C1F-4566-9A7F-9C650A424A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7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027525"/>
            <a:ext cx="10855489" cy="5144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EEB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3896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anose="020B0604030504040204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50000"/>
        </a:spcAft>
        <a:buClr>
          <a:srgbClr val="0070C0"/>
        </a:buClr>
        <a:buFont typeface="Wingdings" panose="05000000000000000000" pitchFamily="2" charset="2"/>
        <a:buChar char="q"/>
        <a:defRPr sz="2400" kern="1200">
          <a:solidFill>
            <a:schemeClr val="folHlink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50000"/>
        </a:spcAft>
        <a:buClr>
          <a:srgbClr val="0070C0"/>
        </a:buClr>
        <a:buFont typeface="Wingdings" panose="05000000000000000000" pitchFamily="2" charset="2"/>
        <a:buChar char="q"/>
        <a:defRPr sz="2200" kern="1200">
          <a:solidFill>
            <a:schemeClr val="hlink"/>
          </a:solidFill>
          <a:latin typeface="+mn-lt"/>
          <a:ea typeface="+mn-ea"/>
          <a:cs typeface="+mn-cs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668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295400"/>
            <a:ext cx="10668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8BB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6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26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26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97626"/>
            <a:ext cx="2641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31F8162-CE7C-4B55-A668-F02D91B856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13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50000"/>
        </a:spcAft>
        <a:buClr>
          <a:srgbClr val="0070C0"/>
        </a:buClr>
        <a:buFont typeface="Wingdings" panose="05000000000000000000" pitchFamily="2" charset="2"/>
        <a:buChar char="q"/>
        <a:defRPr sz="2200">
          <a:solidFill>
            <a:schemeClr val="folHlink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50000"/>
        </a:spcAft>
        <a:buClr>
          <a:srgbClr val="0070C0"/>
        </a:buClr>
        <a:buFont typeface="Wingdings" panose="05000000000000000000" pitchFamily="2" charset="2"/>
        <a:buChar char="q"/>
        <a:defRPr sz="2000">
          <a:solidFill>
            <a:schemeClr val="hlink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24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16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668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295400"/>
            <a:ext cx="10668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1096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314263702 h 1000"/>
              <a:gd name="T6" fmla="*/ 0 w 1000"/>
              <a:gd name="T7" fmla="*/ 1314263702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FC000"/>
          </a:solidFill>
          <a:ln w="9525">
            <a:solidFill>
              <a:srgbClr val="99CC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324600"/>
            <a:ext cx="10566400" cy="0"/>
          </a:xfrm>
          <a:prstGeom prst="line">
            <a:avLst/>
          </a:prstGeom>
          <a:noFill/>
          <a:ln w="3175">
            <a:solidFill>
              <a:srgbClr val="8BB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6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26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26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97626"/>
            <a:ext cx="2641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31F8162-CE7C-4B55-A668-F02D91B856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Line 5">
            <a:extLst>
              <a:ext uri="{FF2B5EF4-FFF2-40B4-BE49-F238E27FC236}">
                <a16:creationId xmlns:a16="http://schemas.microsoft.com/office/drawing/2014/main" id="{7F4CDEB7-83CC-680C-C959-4CBA69A1E13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965200" y="6477000"/>
            <a:ext cx="10566400" cy="0"/>
          </a:xfrm>
          <a:prstGeom prst="line">
            <a:avLst/>
          </a:prstGeom>
          <a:noFill/>
          <a:ln w="3175">
            <a:solidFill>
              <a:srgbClr val="EEB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124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folHlink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50000"/>
        </a:spcAft>
        <a:buClr>
          <a:srgbClr val="0070C0"/>
        </a:buClr>
        <a:buFont typeface="Wingdings" panose="05000000000000000000" pitchFamily="2" charset="2"/>
        <a:buChar char="q"/>
        <a:defRPr sz="2200">
          <a:solidFill>
            <a:schemeClr val="folHlink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50000"/>
        </a:spcAft>
        <a:buClr>
          <a:srgbClr val="0070C0"/>
        </a:buClr>
        <a:buFont typeface="Wingdings" panose="05000000000000000000" pitchFamily="2" charset="2"/>
        <a:buChar char="Ø"/>
        <a:defRPr sz="2000">
          <a:solidFill>
            <a:schemeClr val="hlink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24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rgbClr val="0070C0"/>
        </a:buClr>
        <a:buFont typeface="Wingdings" panose="05000000000000000000" pitchFamily="2" charset="2"/>
        <a:buChar char="q"/>
        <a:defRPr sz="16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rgbClr val="8BBC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FBD3C6-ECA1-19FD-3919-7E07D5FA36E0}"/>
              </a:ext>
            </a:extLst>
          </p:cNvPr>
          <p:cNvSpPr txBox="1"/>
          <p:nvPr/>
        </p:nvSpPr>
        <p:spPr>
          <a:xfrm>
            <a:off x="2531983" y="1328003"/>
            <a:ext cx="47302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solidFill>
                  <a:srgbClr val="0070C0"/>
                </a:solidFill>
              </a:rPr>
              <a:t>Spring Framework</a:t>
            </a:r>
            <a:endParaRPr lang="en-IN" sz="480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A2AA39-3509-1111-3E63-1288E8AF4829}"/>
              </a:ext>
            </a:extLst>
          </p:cNvPr>
          <p:cNvSpPr txBox="1"/>
          <p:nvPr/>
        </p:nvSpPr>
        <p:spPr>
          <a:xfrm>
            <a:off x="1876311" y="3651644"/>
            <a:ext cx="78924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 Comprehensive Guide to Spring  Framework</a:t>
            </a:r>
          </a:p>
          <a:p>
            <a:r>
              <a:rPr lang="en-US" sz="2400"/>
              <a:t>Architecture, Features, and Dependency Injection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87130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456A7-AFD3-1F20-6964-C73EB09D6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2FB125-077C-6E85-F657-AA3CDD767D0E}"/>
              </a:ext>
            </a:extLst>
          </p:cNvPr>
          <p:cNvSpPr txBox="1"/>
          <p:nvPr/>
        </p:nvSpPr>
        <p:spPr>
          <a:xfrm>
            <a:off x="1648889" y="1589710"/>
            <a:ext cx="7195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Introduction to Spring Framework</a:t>
            </a:r>
            <a:endParaRPr lang="en-IN" sz="32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9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790418-D00C-61CB-06F9-571470EB37AE}"/>
              </a:ext>
            </a:extLst>
          </p:cNvPr>
          <p:cNvSpPr txBox="1"/>
          <p:nvPr/>
        </p:nvSpPr>
        <p:spPr>
          <a:xfrm>
            <a:off x="538480" y="320388"/>
            <a:ext cx="4111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Spring Framework </a:t>
            </a:r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0A28B-24AC-AC5A-B5D5-E5BD52480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198879"/>
            <a:ext cx="11429583" cy="5046345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400"/>
              <a:t>Why Use Spring?</a:t>
            </a:r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/>
              <a:t>Simplifies Java application development.</a:t>
            </a:r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/>
              <a:t>Provides dependency injection for loose coupling.</a:t>
            </a:r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/>
              <a:t>Supports aspect-oriented programming (AOP).</a:t>
            </a:r>
          </a:p>
          <a:p>
            <a:pPr marL="800100" lvl="1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200"/>
              <a:t>Offers a rich set of APIs for different functionalities:</a:t>
            </a:r>
          </a:p>
          <a:p>
            <a:pPr marL="1257300" lvl="2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000"/>
              <a:t>Spring MVC (Web applications)</a:t>
            </a:r>
          </a:p>
          <a:p>
            <a:pPr marL="1257300" lvl="2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000"/>
              <a:t>Spring Data (Database access)</a:t>
            </a:r>
          </a:p>
          <a:p>
            <a:pPr marL="1257300" lvl="2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000"/>
              <a:t>Spring Security (Authentication &amp; Authorization)</a:t>
            </a:r>
          </a:p>
          <a:p>
            <a:pPr marL="1257300" lvl="2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000"/>
              <a:t>Spring Batch (Batch Processing)</a:t>
            </a:r>
          </a:p>
          <a:p>
            <a:pPr marL="1257300" lvl="2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000"/>
              <a:t>Spring Cloud (Microservices)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US" sz="2400"/>
              <a:t>Integrates well with other frameworks like Hibernate, JPA, and JMS</a:t>
            </a:r>
            <a:endParaRPr lang="en-IN" sz="2400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54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65BF1-EEA0-7DCD-D611-1839AC251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5D01F7-0CAB-4DC9-D1B8-17B3F2B2E9F8}"/>
              </a:ext>
            </a:extLst>
          </p:cNvPr>
          <p:cNvSpPr txBox="1"/>
          <p:nvPr/>
        </p:nvSpPr>
        <p:spPr>
          <a:xfrm>
            <a:off x="1717040" y="2721114"/>
            <a:ext cx="66134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>
                <a:solidFill>
                  <a:srgbClr val="002060"/>
                </a:solidFill>
              </a:rPr>
              <a:t>Spring Framework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1623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9E47-7DED-7948-72A9-B3FC92D8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2C4DC-E2BD-70E7-157F-C1C16D359F9A}"/>
              </a:ext>
            </a:extLst>
          </p:cNvPr>
          <p:cNvSpPr txBox="1"/>
          <p:nvPr/>
        </p:nvSpPr>
        <p:spPr>
          <a:xfrm>
            <a:off x="1178560" y="313749"/>
            <a:ext cx="6918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Overview of Spring Architecture </a:t>
            </a:r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4A8B2-D34E-5C88-C58B-99EDD808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8560" y="1127759"/>
            <a:ext cx="9204542" cy="4968241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IN"/>
              <a:t>Core Container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IN"/>
              <a:t>Beans, Core, Context, Expression Language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IN"/>
              <a:t>Data Access/Integration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IN"/>
              <a:t>JDBC, ORM, JMS,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IN"/>
              <a:t>Web Module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IN"/>
              <a:t>Spring MVC, WebSocket, </a:t>
            </a:r>
            <a:r>
              <a:rPr lang="en-IN" err="1"/>
              <a:t>WebFlux</a:t>
            </a:r>
            <a:endParaRPr lang="en-IN"/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IN"/>
              <a:t>AOP (Aspect-Oriented Programming)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IN"/>
              <a:t>AspectJ, Spring AOP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IN"/>
              <a:t>Instrumentation &amp; Messaging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IN"/>
              <a:t>Integration with RabbitMQ, Kafka, etc.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IN"/>
              <a:t>Test Module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IN"/>
              <a:t>Unit Testing, Spring </a:t>
            </a:r>
            <a:r>
              <a:rPr lang="en-IN" err="1"/>
              <a:t>TestContext</a:t>
            </a:r>
            <a:endParaRPr lang="en-IN"/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IN"/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IN"/>
          </a:p>
        </p:txBody>
      </p:sp>
      <p:pic>
        <p:nvPicPr>
          <p:cNvPr id="3" name="Picture 7" descr="spring overview">
            <a:extLst>
              <a:ext uri="{FF2B5EF4-FFF2-40B4-BE49-F238E27FC236}">
                <a16:creationId xmlns:a16="http://schemas.microsoft.com/office/drawing/2014/main" id="{8A96FAA0-8EBB-29AF-8FE7-97E9AB597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240" y="1579880"/>
            <a:ext cx="4192692" cy="3144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6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spring overview">
            <a:extLst>
              <a:ext uri="{FF2B5EF4-FFF2-40B4-BE49-F238E27FC236}">
                <a16:creationId xmlns:a16="http://schemas.microsoft.com/office/drawing/2014/main" id="{227F9A47-8222-1759-B081-54B7F448A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80" y="914399"/>
            <a:ext cx="6705600" cy="502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860FDA-0446-4248-BE7A-C236831863A1}"/>
              </a:ext>
            </a:extLst>
          </p:cNvPr>
          <p:cNvSpPr txBox="1"/>
          <p:nvPr/>
        </p:nvSpPr>
        <p:spPr>
          <a:xfrm>
            <a:off x="1178560" y="313749"/>
            <a:ext cx="69184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Overview of Spring Architecture </a:t>
            </a:r>
            <a:endParaRPr lang="en-IN" sz="32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266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8A219-0661-5E45-D6CE-3FFDC8E7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280" y="1148079"/>
            <a:ext cx="11124783" cy="4521201"/>
          </a:xfrm>
        </p:spPr>
        <p:txBody>
          <a:bodyPr>
            <a:normAutofit lnSpcReduction="10000"/>
          </a:bodyPr>
          <a:lstStyle/>
          <a:p>
            <a:r>
              <a:rPr lang="en-US"/>
              <a:t>Lightweight </a:t>
            </a:r>
          </a:p>
          <a:p>
            <a:pPr lvl="1"/>
            <a:r>
              <a:rPr lang="en-US"/>
              <a:t>Uses POJOs, minimal overhead.</a:t>
            </a:r>
          </a:p>
          <a:p>
            <a:r>
              <a:rPr lang="en-US"/>
              <a:t>Dependency Injection (DI) </a:t>
            </a:r>
          </a:p>
          <a:p>
            <a:pPr lvl="1"/>
            <a:r>
              <a:rPr lang="en-US"/>
              <a:t>Reduces dependencies, increases modularity.</a:t>
            </a:r>
          </a:p>
          <a:p>
            <a:r>
              <a:rPr lang="en-US"/>
              <a:t>Aspect-Oriented Programming (AOP)</a:t>
            </a:r>
          </a:p>
          <a:p>
            <a:pPr lvl="1"/>
            <a:r>
              <a:rPr lang="en-US"/>
              <a:t>Allows separation of cross-cutting concerns.</a:t>
            </a:r>
          </a:p>
          <a:p>
            <a:r>
              <a:rPr lang="en-US"/>
              <a:t>Spring MVC </a:t>
            </a:r>
          </a:p>
          <a:p>
            <a:pPr lvl="1"/>
            <a:r>
              <a:rPr lang="en-US"/>
              <a:t>A framework for web applications.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F413C-7752-AE49-B5E7-EBC3F65FFA78}"/>
              </a:ext>
            </a:extLst>
          </p:cNvPr>
          <p:cNvSpPr txBox="1"/>
          <p:nvPr/>
        </p:nvSpPr>
        <p:spPr>
          <a:xfrm>
            <a:off x="843280" y="320388"/>
            <a:ext cx="5883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70C0"/>
                </a:solidFill>
              </a:rPr>
              <a:t>Spring Framework Features</a:t>
            </a:r>
            <a:endParaRPr lang="en-IN" sz="32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589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BC8D-DC0B-6BEC-7D8E-63C74A87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2C8297-2894-2079-4B5F-D0B21506A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903" y="1209039"/>
            <a:ext cx="10748193" cy="5097145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Spring Boot </a:t>
            </a:r>
          </a:p>
          <a:p>
            <a:pPr lvl="1"/>
            <a:r>
              <a:rPr lang="en-US"/>
              <a:t>Simplifies Spring application development.</a:t>
            </a:r>
          </a:p>
          <a:p>
            <a:pPr lvl="1"/>
            <a:r>
              <a:rPr lang="en-US"/>
              <a:t>Provides Autoconfiguration and Opinionated Support</a:t>
            </a:r>
          </a:p>
          <a:p>
            <a:r>
              <a:rPr lang="en-US"/>
              <a:t>Spring Security </a:t>
            </a:r>
          </a:p>
          <a:p>
            <a:pPr lvl="1"/>
            <a:r>
              <a:rPr lang="en-US"/>
              <a:t>Manages authentication and authorization.</a:t>
            </a:r>
          </a:p>
          <a:p>
            <a:r>
              <a:rPr lang="en-US"/>
              <a:t>Spring Data </a:t>
            </a:r>
          </a:p>
          <a:p>
            <a:pPr lvl="1"/>
            <a:r>
              <a:rPr lang="en-US"/>
              <a:t>Provides easy integration with databases.</a:t>
            </a:r>
          </a:p>
          <a:p>
            <a:r>
              <a:rPr lang="en-US"/>
              <a:t>Spring Cloud </a:t>
            </a:r>
          </a:p>
          <a:p>
            <a:pPr lvl="1"/>
            <a:r>
              <a:rPr lang="en-US"/>
              <a:t>Supports microservices development.</a:t>
            </a:r>
          </a:p>
          <a:p>
            <a:r>
              <a:rPr lang="en-US"/>
              <a:t>Reactive Programming Support </a:t>
            </a:r>
          </a:p>
          <a:p>
            <a:pPr lvl="1"/>
            <a:r>
              <a:rPr lang="en-US" err="1"/>
              <a:t>WebFlux</a:t>
            </a:r>
            <a:r>
              <a:rPr lang="en-US"/>
              <a:t> for non-blocking applications.</a:t>
            </a:r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B49D0-30E9-7E4C-3790-47D787965DC8}"/>
              </a:ext>
            </a:extLst>
          </p:cNvPr>
          <p:cNvSpPr txBox="1"/>
          <p:nvPr/>
        </p:nvSpPr>
        <p:spPr>
          <a:xfrm>
            <a:off x="355600" y="320388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320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AA52B-C7AF-7D60-DF3E-9120A571E060}"/>
              </a:ext>
            </a:extLst>
          </p:cNvPr>
          <p:cNvSpPr txBox="1"/>
          <p:nvPr/>
        </p:nvSpPr>
        <p:spPr>
          <a:xfrm>
            <a:off x="843280" y="320388"/>
            <a:ext cx="5883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002060"/>
                </a:solidFill>
              </a:rPr>
              <a:t>Spring Framework Features</a:t>
            </a:r>
            <a:endParaRPr lang="en-IN" sz="32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91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F1B0B1-C5D1-CA36-C805-6FA9EA05F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1" y="1117600"/>
            <a:ext cx="5059680" cy="5127624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Loose Coupling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Uses DI to reduce dependencies.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Modular Architecture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Allows using only needed modules.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Integration Support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Works well with Hibernate, JPA, Kafka, etc.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Enterprise-Ready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 Used in large-scale applications.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697FB-C9FC-2C85-E75A-FFAE5C78B94E}"/>
              </a:ext>
            </a:extLst>
          </p:cNvPr>
          <p:cNvSpPr txBox="1"/>
          <p:nvPr/>
        </p:nvSpPr>
        <p:spPr>
          <a:xfrm>
            <a:off x="711200" y="289610"/>
            <a:ext cx="66161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2060"/>
                </a:solidFill>
              </a:rPr>
              <a:t>Advantages of Spring Framework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1D1680F-C82A-8DC2-E56C-DAC4BAF4FDF8}"/>
              </a:ext>
            </a:extLst>
          </p:cNvPr>
          <p:cNvSpPr txBox="1">
            <a:spLocks/>
          </p:cNvSpPr>
          <p:nvPr/>
        </p:nvSpPr>
        <p:spPr bwMode="auto">
          <a:xfrm>
            <a:off x="6096000" y="1117600"/>
            <a:ext cx="5686098" cy="51276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469900" indent="-469900" algn="l" rtl="0" eaLnBrk="1" fontAlgn="base" hangingPunct="1">
              <a:spcBef>
                <a:spcPct val="20000"/>
              </a:spcBef>
              <a:spcAft>
                <a:spcPct val="50000"/>
              </a:spcAft>
              <a:buClr>
                <a:srgbClr val="0070C0"/>
              </a:buClr>
              <a:buFont typeface="Wingdings" panose="05000000000000000000" pitchFamily="2" charset="2"/>
              <a:buChar char="q"/>
              <a:defRPr sz="24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20000"/>
              </a:spcBef>
              <a:spcAft>
                <a:spcPct val="50000"/>
              </a:spcAft>
              <a:buClr>
                <a:srgbClr val="0070C0"/>
              </a:buClr>
              <a:buFont typeface="Wingdings" panose="05000000000000000000" pitchFamily="2" charset="2"/>
              <a:buChar char="q"/>
              <a:defRPr sz="2200" kern="1200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2pPr>
            <a:lvl3pPr marL="1304925" indent="-3952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3863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39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Declarative Transactions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 Simplifies transaction management.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Testability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Built-in testing support with JUnit &amp; Mockito.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Scalability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Suitable for microservices and enterprise applications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lang="en-US"/>
              <a:t>Declarativ Security</a:t>
            </a:r>
          </a:p>
          <a:p>
            <a:pPr lvl="1">
              <a:spcBef>
                <a:spcPts val="800"/>
              </a:spcBef>
              <a:spcAft>
                <a:spcPts val="400"/>
              </a:spcAft>
            </a:pPr>
            <a:r>
              <a:rPr lang="en-US"/>
              <a:t>Simple security configuration and Setup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52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73492E-C612-2A3E-7AA8-B463ADCE4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357773"/>
            <a:ext cx="10883769" cy="4778867"/>
          </a:xfrm>
        </p:spPr>
        <p:txBody>
          <a:bodyPr>
            <a:normAutofit fontScale="92500"/>
          </a:bodyPr>
          <a:lstStyle/>
          <a:p>
            <a:r>
              <a:rPr lang="en-US"/>
              <a:t>Complex Configuration</a:t>
            </a:r>
          </a:p>
          <a:p>
            <a:pPr lvl="1"/>
            <a:r>
              <a:rPr lang="en-US"/>
              <a:t>XML-based configurations can be difficult (Spring Boot simplifies this).</a:t>
            </a:r>
          </a:p>
          <a:p>
            <a:r>
              <a:rPr lang="en-US"/>
              <a:t>Learning Curve</a:t>
            </a:r>
          </a:p>
          <a:p>
            <a:pPr lvl="1"/>
            <a:r>
              <a:rPr lang="en-US"/>
              <a:t>Large ecosystem, requires time to master.</a:t>
            </a:r>
          </a:p>
          <a:p>
            <a:r>
              <a:rPr lang="en-US"/>
              <a:t>Performance Overhead</a:t>
            </a:r>
          </a:p>
          <a:p>
            <a:pPr lvl="1"/>
            <a:r>
              <a:rPr lang="en-US"/>
              <a:t>Uses proxies, which can add slight overhead.</a:t>
            </a:r>
          </a:p>
          <a:p>
            <a:r>
              <a:rPr lang="en-US"/>
              <a:t>Verbosity</a:t>
            </a:r>
          </a:p>
          <a:p>
            <a:pPr lvl="1"/>
            <a:r>
              <a:rPr lang="en-US"/>
              <a:t>Some features require additional boilerplate code.</a:t>
            </a:r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33968-B493-6646-BD08-90AE05DA550D}"/>
              </a:ext>
            </a:extLst>
          </p:cNvPr>
          <p:cNvSpPr txBox="1"/>
          <p:nvPr/>
        </p:nvSpPr>
        <p:spPr>
          <a:xfrm>
            <a:off x="711200" y="335777"/>
            <a:ext cx="718677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2060"/>
                </a:solidFill>
              </a:rPr>
              <a:t>Disadvantages of Spring Framework</a:t>
            </a:r>
          </a:p>
        </p:txBody>
      </p:sp>
    </p:spTree>
    <p:extLst>
      <p:ext uri="{BB962C8B-B14F-4D97-AF65-F5344CB8AC3E}">
        <p14:creationId xmlns:p14="http://schemas.microsoft.com/office/powerpoint/2010/main" val="41657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DE8339-3685-A6D8-B60D-9C49BBC5C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07160"/>
            <a:ext cx="10363200" cy="939800"/>
          </a:xfrm>
        </p:spPr>
        <p:txBody>
          <a:bodyPr/>
          <a:lstStyle/>
          <a:p>
            <a:r>
              <a:rPr lang="en-US"/>
              <a:t>Spring Dependency Injection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386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9F0640-5431-4BAC-00A8-56F4665E0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Definition:</a:t>
            </a:r>
          </a:p>
          <a:p>
            <a:pPr marL="471487" lvl="1" indent="0">
              <a:buNone/>
            </a:pPr>
            <a:r>
              <a:rPr lang="en-US"/>
              <a:t>A design pattern used in Spring to achieve loose coupling by injecting dependencies from external sources instead of creating them inside classes.</a:t>
            </a:r>
          </a:p>
          <a:p>
            <a:pPr marL="471487" lvl="1" indent="0">
              <a:buNone/>
            </a:pPr>
            <a:endParaRPr lang="en-US"/>
          </a:p>
          <a:p>
            <a:r>
              <a:rPr lang="en-US"/>
              <a:t>Why use DI?</a:t>
            </a:r>
          </a:p>
          <a:p>
            <a:pPr lvl="1"/>
            <a:r>
              <a:rPr lang="en-US"/>
              <a:t>Improves testability.</a:t>
            </a:r>
          </a:p>
          <a:p>
            <a:pPr lvl="1"/>
            <a:r>
              <a:rPr lang="en-US"/>
              <a:t>	Reduces code complexity.</a:t>
            </a:r>
          </a:p>
          <a:p>
            <a:pPr lvl="1"/>
            <a:r>
              <a:rPr lang="en-US"/>
              <a:t>	Enhances maintainability.</a:t>
            </a:r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6943A-062B-22A4-00B7-AE51FE70123C}"/>
              </a:ext>
            </a:extLst>
          </p:cNvPr>
          <p:cNvSpPr txBox="1"/>
          <p:nvPr/>
        </p:nvSpPr>
        <p:spPr>
          <a:xfrm>
            <a:off x="711200" y="289610"/>
            <a:ext cx="44037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2060"/>
                </a:solidFill>
              </a:rPr>
              <a:t>Dependency Injection</a:t>
            </a:r>
          </a:p>
        </p:txBody>
      </p:sp>
    </p:spTree>
    <p:extLst>
      <p:ext uri="{BB962C8B-B14F-4D97-AF65-F5344CB8AC3E}">
        <p14:creationId xmlns:p14="http://schemas.microsoft.com/office/powerpoint/2010/main" val="3855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1D3C72-E8E9-E9C1-D3CF-5C277574E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696720"/>
            <a:ext cx="10883769" cy="4548504"/>
          </a:xfrm>
        </p:spPr>
        <p:txBody>
          <a:bodyPr/>
          <a:lstStyle/>
          <a:p>
            <a:r>
              <a:rPr lang="en-US"/>
              <a:t>Constructor Injection</a:t>
            </a:r>
          </a:p>
          <a:p>
            <a:r>
              <a:rPr lang="en-US"/>
              <a:t>Setter Injection</a:t>
            </a:r>
          </a:p>
          <a:p>
            <a:r>
              <a:rPr lang="en-US"/>
              <a:t>Field Injection (Not recommended)</a:t>
            </a:r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38046-DD05-B919-2F31-F143B07DD23F}"/>
              </a:ext>
            </a:extLst>
          </p:cNvPr>
          <p:cNvSpPr txBox="1"/>
          <p:nvPr/>
        </p:nvSpPr>
        <p:spPr>
          <a:xfrm>
            <a:off x="711200" y="289610"/>
            <a:ext cx="75112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2060"/>
                </a:solidFill>
              </a:rPr>
              <a:t>Dependency Injection Types in Spring</a:t>
            </a:r>
          </a:p>
        </p:txBody>
      </p:sp>
    </p:spTree>
    <p:extLst>
      <p:ext uri="{BB962C8B-B14F-4D97-AF65-F5344CB8AC3E}">
        <p14:creationId xmlns:p14="http://schemas.microsoft.com/office/powerpoint/2010/main" val="226106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793E-54D7-E25E-14CD-67FC2DC8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56BDC7-3FFB-7716-4931-2E12577EB09A}"/>
              </a:ext>
            </a:extLst>
          </p:cNvPr>
          <p:cNvSpPr txBox="1"/>
          <p:nvPr/>
        </p:nvSpPr>
        <p:spPr>
          <a:xfrm>
            <a:off x="711200" y="289610"/>
            <a:ext cx="42803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2060"/>
                </a:solidFill>
              </a:rPr>
              <a:t>Constructor Injection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52872-1DDE-973E-D747-7D9AFF2F025A}"/>
              </a:ext>
            </a:extLst>
          </p:cNvPr>
          <p:cNvSpPr txBox="1"/>
          <p:nvPr/>
        </p:nvSpPr>
        <p:spPr>
          <a:xfrm>
            <a:off x="782320" y="843608"/>
            <a:ext cx="9966960" cy="5755422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Dependency Class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"Email sent: "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EE5D43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message);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Dependent Class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Constructor Injection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Autowired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EE5D4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emailService;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notifyUser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"Welcome to Dependency Injection!"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71E4F-A0B7-B4A8-1943-E7FD2F3D4EC6}"/>
              </a:ext>
            </a:extLst>
          </p:cNvPr>
          <p:cNvSpPr/>
          <p:nvPr/>
        </p:nvSpPr>
        <p:spPr bwMode="auto">
          <a:xfrm>
            <a:off x="1239520" y="4064000"/>
            <a:ext cx="5496560" cy="13919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368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858E-E80A-8338-F324-3D39AD92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95D273-CBE7-73CD-D06A-B3E5FAD1C963}"/>
              </a:ext>
            </a:extLst>
          </p:cNvPr>
          <p:cNvSpPr txBox="1"/>
          <p:nvPr/>
        </p:nvSpPr>
        <p:spPr>
          <a:xfrm>
            <a:off x="711200" y="289610"/>
            <a:ext cx="32127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2060"/>
                </a:solidFill>
              </a:rPr>
              <a:t>Setter Injection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8C299-24FB-9ABC-BA4A-EF1C763D5304}"/>
              </a:ext>
            </a:extLst>
          </p:cNvPr>
          <p:cNvSpPr txBox="1"/>
          <p:nvPr/>
        </p:nvSpPr>
        <p:spPr>
          <a:xfrm>
            <a:off x="782320" y="843608"/>
            <a:ext cx="9966960" cy="5755422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Dependency Class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"Email sent: "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EE5D43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message);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Dependent Class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Setter Injection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Autowired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SetEmailService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EE5D4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emailService;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notifyUser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"Welcome to Dependency Injection!"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0C71C-0AC7-3387-3C5D-7AB6FAC23C69}"/>
              </a:ext>
            </a:extLst>
          </p:cNvPr>
          <p:cNvSpPr/>
          <p:nvPr/>
        </p:nvSpPr>
        <p:spPr bwMode="auto">
          <a:xfrm>
            <a:off x="1239520" y="4023360"/>
            <a:ext cx="6065520" cy="143256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382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F745-CE9A-A3BB-39CD-4EFF81EF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5728CA-DA42-2B3C-A566-F88395FBE347}"/>
              </a:ext>
            </a:extLst>
          </p:cNvPr>
          <p:cNvSpPr txBox="1"/>
          <p:nvPr/>
        </p:nvSpPr>
        <p:spPr>
          <a:xfrm>
            <a:off x="736568" y="253780"/>
            <a:ext cx="707142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solidFill>
                  <a:srgbClr val="002060"/>
                </a:solidFill>
              </a:rPr>
              <a:t>Field Injection (Not Recommended)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93774-526B-BF51-8236-91D6FB21CD84}"/>
              </a:ext>
            </a:extLst>
          </p:cNvPr>
          <p:cNvSpPr txBox="1"/>
          <p:nvPr/>
        </p:nvSpPr>
        <p:spPr>
          <a:xfrm>
            <a:off x="782320" y="843608"/>
            <a:ext cx="9966960" cy="5016758"/>
          </a:xfrm>
          <a:prstGeom prst="rect">
            <a:avLst/>
          </a:prstGeom>
          <a:solidFill>
            <a:schemeClr val="tx2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Dependency Class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"Email sent: "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EE5D43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message);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Dependent Class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6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600">
                <a:solidFill>
                  <a:srgbClr val="BBBBBB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buNone/>
            </a:pPr>
            <a:r>
              <a:rPr lang="en-IN" sz="1600">
                <a:solidFill>
                  <a:srgbClr val="BBBBBB"/>
                </a:solidFill>
                <a:latin typeface="Consolas" panose="020B0609020204030204" pitchFamily="49" charset="0"/>
              </a:rPr>
              <a:t>    </a:t>
            </a:r>
            <a:r>
              <a:rPr lang="en-IN" sz="1600">
                <a:solidFill>
                  <a:schemeClr val="bg1"/>
                </a:solidFill>
                <a:latin typeface="Consolas" panose="020B0609020204030204" pitchFamily="49" charset="0"/>
              </a:rPr>
              <a:t>@Autowired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b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notifyUser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sendEmail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"Welcome to Dependency Injection!"</a:t>
            </a: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7B2FB-DF3C-E9E9-867A-ADB058F2955E}"/>
              </a:ext>
            </a:extLst>
          </p:cNvPr>
          <p:cNvSpPr/>
          <p:nvPr/>
        </p:nvSpPr>
        <p:spPr bwMode="auto">
          <a:xfrm>
            <a:off x="1239519" y="3728720"/>
            <a:ext cx="6065520" cy="8331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104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7DB7C1-86A4-021C-EC59-B49813873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437640"/>
            <a:ext cx="9347200" cy="817880"/>
          </a:xfrm>
        </p:spPr>
        <p:txBody>
          <a:bodyPr/>
          <a:lstStyle/>
          <a:p>
            <a:r>
              <a:rPr lang="en-US"/>
              <a:t>Beans and IOC</a:t>
            </a:r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4AD3983-8E0B-1F7E-5B0C-61398226EA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9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D2AF369-171C-40F6-ADDF-A0E40758590D}" type="slidenum">
              <a:rPr lang="en-US" altLang="en-US">
                <a:solidFill>
                  <a:srgbClr val="000000"/>
                </a:solidFill>
              </a:rPr>
              <a:pPr/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Beans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Spring, those objects that form the backbone of your application and that are managed by the Spring IoC </a:t>
            </a:r>
            <a:r>
              <a:rPr lang="en-US" altLang="en-US" i="1"/>
              <a:t>container</a:t>
            </a:r>
            <a:r>
              <a:rPr lang="en-US" altLang="en-US"/>
              <a:t> are referred to as </a:t>
            </a:r>
            <a:r>
              <a:rPr lang="en-US" altLang="en-US" i="1"/>
              <a:t>beans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 A bean is simply an object that is instantiated, assembled and otherwise managed by a Spring IoC container</a:t>
            </a:r>
          </a:p>
          <a:p>
            <a:pPr lvl="1" eaLnBrk="1" hangingPunct="1"/>
            <a:r>
              <a:rPr lang="en-US" altLang="en-US"/>
              <a:t>there is nothing special about a bean (it is in all other respects one of probably many objects in your application).</a:t>
            </a:r>
          </a:p>
          <a:p>
            <a:pPr eaLnBrk="1" hangingPunct="1"/>
            <a:r>
              <a:rPr lang="en-US" altLang="en-US"/>
              <a:t>These beans, and the </a:t>
            </a:r>
            <a:r>
              <a:rPr lang="en-US" altLang="en-US" i="1"/>
              <a:t>dependencies</a:t>
            </a:r>
            <a:r>
              <a:rPr lang="en-US" altLang="en-US"/>
              <a:t> between them, are reflected in the </a:t>
            </a:r>
            <a:r>
              <a:rPr lang="en-US" altLang="en-US" i="1"/>
              <a:t>configuration metadata</a:t>
            </a:r>
            <a:r>
              <a:rPr lang="en-US" altLang="en-US"/>
              <a:t> used by a container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77CD57D3-DC7B-4511-BD58-09EB6162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The IoC container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4A13-70B2-46D0-9E3E-276E3910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</a:rPr>
              <a:t>org.springframework.beans</a:t>
            </a:r>
            <a:r>
              <a:rPr lang="en-US" dirty="0"/>
              <a:t> and </a:t>
            </a:r>
            <a:r>
              <a:rPr lang="en-US" dirty="0" err="1">
                <a:solidFill>
                  <a:srgbClr val="C00000"/>
                </a:solidFill>
              </a:rPr>
              <a:t>org.springframework.context</a:t>
            </a:r>
            <a:r>
              <a:rPr lang="en-US" dirty="0">
                <a:solidFill>
                  <a:srgbClr val="C00000"/>
                </a:solidFill>
              </a:rPr>
              <a:t> packages </a:t>
            </a:r>
            <a:r>
              <a:rPr lang="en-US" dirty="0"/>
              <a:t>provide the basis for the Spring Framework's </a:t>
            </a:r>
            <a:r>
              <a:rPr lang="en-US" dirty="0" err="1"/>
              <a:t>IoC</a:t>
            </a:r>
            <a:r>
              <a:rPr lang="en-US" dirty="0"/>
              <a:t> container.</a:t>
            </a:r>
          </a:p>
          <a:p>
            <a:pPr eaLnBrk="1" hangingPunct="1"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BeanFactory</a:t>
            </a:r>
            <a:r>
              <a:rPr lang="en-US" dirty="0"/>
              <a:t> interface provides an advanced configuration mechanism capable of managing objects of any nature.</a:t>
            </a:r>
          </a:p>
          <a:p>
            <a:pPr eaLnBrk="1" hangingPunct="1">
              <a:defRPr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ApplicationContext</a:t>
            </a:r>
            <a:r>
              <a:rPr lang="en-US" dirty="0"/>
              <a:t> interface builds on top of the BeanFactory (it is a sub-interface) and adds other functionality such as</a:t>
            </a:r>
          </a:p>
          <a:p>
            <a:pPr lvl="1" eaLnBrk="1" hangingPunct="1">
              <a:defRPr/>
            </a:pPr>
            <a:r>
              <a:rPr lang="en-US" dirty="0"/>
              <a:t>easier integration with Spring's AOP features</a:t>
            </a:r>
          </a:p>
          <a:p>
            <a:pPr lvl="1" eaLnBrk="1" hangingPunct="1">
              <a:defRPr/>
            </a:pPr>
            <a:r>
              <a:rPr lang="en-US" dirty="0"/>
              <a:t>message resource handling (for use in internationalization),</a:t>
            </a:r>
          </a:p>
          <a:p>
            <a:pPr lvl="1" eaLnBrk="1" hangingPunct="1">
              <a:defRPr/>
            </a:pPr>
            <a:r>
              <a:rPr lang="en-US" dirty="0"/>
              <a:t>event propagation, and application-layer specific contexts such as the </a:t>
            </a:r>
            <a:r>
              <a:rPr lang="en-US" dirty="0" err="1"/>
              <a:t>WebApplicationContext</a:t>
            </a:r>
            <a:r>
              <a:rPr lang="en-US" dirty="0"/>
              <a:t> for use in web applications.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F76B1E9-CF9C-43CF-9E91-62B2FCCA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The container</a:t>
            </a:r>
            <a:endParaRPr lang="en-US" altLang="en-US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F5AF38F4-6B06-486E-B920-BE15CF9A3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org.springframework.beans.factory.BeanFactory is the actual representation of the Spring IoC </a:t>
            </a:r>
            <a:r>
              <a:rPr lang="en-US" altLang="en-US" i="1"/>
              <a:t>container</a:t>
            </a:r>
            <a:r>
              <a:rPr lang="en-US" altLang="en-US"/>
              <a:t> that is responsible for containing and otherwise managing the aforementioned beans.</a:t>
            </a:r>
          </a:p>
          <a:p>
            <a:pPr eaLnBrk="1" hangingPunct="1"/>
            <a:r>
              <a:rPr lang="en-US" altLang="en-US"/>
              <a:t>The BeanFactory interface is the central IoC container interface in Spring.</a:t>
            </a:r>
          </a:p>
          <a:p>
            <a:pPr eaLnBrk="1" hangingPunct="1"/>
            <a:r>
              <a:rPr lang="en-US" altLang="en-US"/>
              <a:t>Its responsibilities include instantiating or sourcing application objects, configuring such objects, and assembling the dependencies between these objects.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FB2EBD-7FD2-457C-A13F-E5B093DD83A8}" type="slidenum">
              <a:rPr lang="en-US" altLang="en-US">
                <a:solidFill>
                  <a:srgbClr val="000000"/>
                </a:solidFill>
              </a:rPr>
              <a:pPr/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Important Application Contexts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ClassPathXmlApplicationContext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Loads configuration .xml from classpath to creat the ApplicationContext</a:t>
            </a:r>
            <a:endParaRPr lang="en-US" altLang="en-US" dirty="0"/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WebApplicationContext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Creats an ApplicationContext for Web Application</a:t>
            </a:r>
            <a:endParaRPr lang="en-US" altLang="en-US" dirty="0"/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FileSystemApplicationContext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Loads Configuration from FileSystem (e.g. file PATH) to creat the ApplicationContext</a:t>
            </a:r>
            <a:endParaRPr lang="en-US" altLang="en-US" dirty="0"/>
          </a:p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AnnotationConfigApplicationContext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altLang="en-US"/>
              <a:t>Loads Configuration from annotated java class to creat the ApplicationContext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78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D:\development\spring-framework-2.5\docs\reference\html_single\images\container-magic.png">
            <a:extLst>
              <a:ext uri="{FF2B5EF4-FFF2-40B4-BE49-F238E27FC236}">
                <a16:creationId xmlns:a16="http://schemas.microsoft.com/office/drawing/2014/main" id="{6D6AF977-20C8-4046-A13F-2F2F1FE418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91401" y="3200400"/>
            <a:ext cx="3078163" cy="2362200"/>
          </a:xfrm>
          <a:noFill/>
        </p:spPr>
      </p:pic>
      <p:sp>
        <p:nvSpPr>
          <p:cNvPr id="20483" name="Title 1">
            <a:extLst>
              <a:ext uri="{FF2B5EF4-FFF2-40B4-BE49-F238E27FC236}">
                <a16:creationId xmlns:a16="http://schemas.microsoft.com/office/drawing/2014/main" id="{81702FC3-E939-4EB9-ACE4-9DC8032A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Configuration metadata</a:t>
            </a:r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8746FA41-BF64-4964-98C4-7C649E18B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8956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Box 8">
            <a:extLst>
              <a:ext uri="{FF2B5EF4-FFF2-40B4-BE49-F238E27FC236}">
                <a16:creationId xmlns:a16="http://schemas.microsoft.com/office/drawing/2014/main" id="{13CD776A-A457-4EB9-9B2B-487E23792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295401"/>
            <a:ext cx="7772400" cy="156966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</a:rPr>
              <a:t>The Spring IoC container consumes some form of configuration metadata</a:t>
            </a:r>
          </a:p>
          <a:p>
            <a:r>
              <a:rPr lang="en-US" altLang="en-US" sz="1600">
                <a:solidFill>
                  <a:srgbClr val="000000"/>
                </a:solidFill>
              </a:rPr>
              <a:t>This configuration metadata is nothing more than how you inform the Spring container as to how to “instantiate, configure, and assemble [the objects in your application]”. </a:t>
            </a:r>
            <a:r>
              <a:rPr lang="en-US" altLang="en-US" sz="1600" b="1">
                <a:solidFill>
                  <a:srgbClr val="000000"/>
                </a:solidFill>
              </a:rPr>
              <a:t>This configuration metadata is typically supplied in a simple and intuitive XML format or Java Based Configuration.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5AC578C-4321-40D4-85BB-D51E0780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Instantiating a container</a:t>
            </a:r>
            <a:endParaRPr lang="en-US" altLang="en-U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D7D65A8-3070-4F3E-9FFE-6E817916D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371600"/>
            <a:ext cx="8001000" cy="990600"/>
          </a:xfrm>
        </p:spPr>
        <p:txBody>
          <a:bodyPr/>
          <a:lstStyle/>
          <a:p>
            <a:pPr eaLnBrk="1" hangingPunct="1"/>
            <a:r>
              <a:rPr lang="en-US" altLang="en-US"/>
              <a:t>Instantiating a Spring IoC container is straightforward.</a:t>
            </a:r>
          </a:p>
        </p:txBody>
      </p:sp>
      <p:sp>
        <p:nvSpPr>
          <p:cNvPr id="21508" name="TextBox 3">
            <a:extLst>
              <a:ext uri="{FF2B5EF4-FFF2-40B4-BE49-F238E27FC236}">
                <a16:creationId xmlns:a16="http://schemas.microsoft.com/office/drawing/2014/main" id="{E56F4B3E-2B68-4B54-A764-2282AC715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2590801"/>
            <a:ext cx="815339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ApplicationContext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ctx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</a:p>
          <a:p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new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ClassPathXMLApplicationCOntext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Courier New" panose="02070309020205020404" pitchFamily="49" charset="0"/>
              </a:rPr>
              <a:t>"context.xml"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US" altLang="en-US" dirty="0">
              <a:solidFill>
                <a:srgbClr val="000000"/>
              </a:solidFill>
            </a:endParaRPr>
          </a:p>
          <a:p>
            <a:endParaRPr lang="en-US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7D4EE6-2475-C719-0248-66EB10679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160" y="1336040"/>
            <a:ext cx="10363200" cy="980440"/>
          </a:xfrm>
        </p:spPr>
        <p:txBody>
          <a:bodyPr/>
          <a:lstStyle/>
          <a:p>
            <a:r>
              <a:rPr lang="en-US"/>
              <a:t>How Dependency Injectcion Works</a:t>
            </a:r>
            <a:endParaRPr lang="en-IN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3587FF3-36A7-FDD5-D435-701B05FD1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2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FD7B59-DC9C-F7E9-56C6-24A490759A43}"/>
              </a:ext>
            </a:extLst>
          </p:cNvPr>
          <p:cNvSpPr txBox="1"/>
          <p:nvPr/>
        </p:nvSpPr>
        <p:spPr>
          <a:xfrm>
            <a:off x="863600" y="909658"/>
            <a:ext cx="2092958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C658C-2346-E222-2956-B74A98BC2BC0}"/>
              </a:ext>
            </a:extLst>
          </p:cNvPr>
          <p:cNvSpPr txBox="1"/>
          <p:nvPr/>
        </p:nvSpPr>
        <p:spPr>
          <a:xfrm>
            <a:off x="487682" y="2495064"/>
            <a:ext cx="4714238" cy="1938992"/>
          </a:xfrm>
          <a:prstGeom prst="rect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Constructor Injection</a:t>
            </a:r>
            <a:endParaRPr lang="en-IN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Autowired</a:t>
            </a:r>
            <a:endParaRPr lang="en-IN" sz="1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UserService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emailService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>
                <a:solidFill>
                  <a:srgbClr val="EE5D4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emailService;</a:t>
            </a:r>
          </a:p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1456C1-E2B6-A304-23F4-6D67BB732EDD}"/>
              </a:ext>
            </a:extLst>
          </p:cNvPr>
          <p:cNvCxnSpPr/>
          <p:nvPr/>
        </p:nvCxnSpPr>
        <p:spPr bwMode="auto">
          <a:xfrm>
            <a:off x="2672080" y="1392704"/>
            <a:ext cx="0" cy="220472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449811-94B1-DD67-B29D-A556DCB61B64}"/>
              </a:ext>
            </a:extLst>
          </p:cNvPr>
          <p:cNvSpPr/>
          <p:nvPr/>
        </p:nvSpPr>
        <p:spPr bwMode="auto">
          <a:xfrm>
            <a:off x="7203446" y="820589"/>
            <a:ext cx="4571996" cy="4124960"/>
          </a:xfrm>
          <a:prstGeom prst="roundRect">
            <a:avLst/>
          </a:prstGeom>
          <a:ln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BA6C5D-00CF-73B4-AAC4-7847BB9F814B}"/>
              </a:ext>
            </a:extLst>
          </p:cNvPr>
          <p:cNvSpPr/>
          <p:nvPr/>
        </p:nvSpPr>
        <p:spPr bwMode="auto">
          <a:xfrm>
            <a:off x="3200402" y="921327"/>
            <a:ext cx="1066797" cy="573702"/>
          </a:xfrm>
          <a:prstGeom prst="round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emailService</a:t>
            </a:r>
            <a:endParaRPr kumimoji="0" lang="en-IN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3A544E-16D7-BD83-9542-C13A0218208D}"/>
              </a:ext>
            </a:extLst>
          </p:cNvPr>
          <p:cNvSpPr/>
          <p:nvPr/>
        </p:nvSpPr>
        <p:spPr bwMode="auto">
          <a:xfrm>
            <a:off x="5273059" y="2864900"/>
            <a:ext cx="1300461" cy="935160"/>
          </a:xfrm>
          <a:prstGeom prst="round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</a:rPr>
              <a:t>userService</a:t>
            </a:r>
            <a:endParaRPr kumimoji="0" lang="en-I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21B2D5-5A84-7CA8-5EA9-F054DDCACCC0}"/>
              </a:ext>
            </a:extLst>
          </p:cNvPr>
          <p:cNvSpPr txBox="1"/>
          <p:nvPr/>
        </p:nvSpPr>
        <p:spPr>
          <a:xfrm>
            <a:off x="8067042" y="451257"/>
            <a:ext cx="2361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ApplicationContext</a:t>
            </a:r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B76DAF-5C43-B02D-739A-5DC32681B7DE}"/>
              </a:ext>
            </a:extLst>
          </p:cNvPr>
          <p:cNvCxnSpPr/>
          <p:nvPr/>
        </p:nvCxnSpPr>
        <p:spPr bwMode="auto">
          <a:xfrm>
            <a:off x="9438640" y="2119144"/>
            <a:ext cx="0" cy="1478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117F4D-FEB1-C983-DE69-87473B498C99}"/>
              </a:ext>
            </a:extLst>
          </p:cNvPr>
          <p:cNvSpPr txBox="1"/>
          <p:nvPr/>
        </p:nvSpPr>
        <p:spPr>
          <a:xfrm>
            <a:off x="558800" y="5344160"/>
            <a:ext cx="6385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ApplicationConext ctx=………..;</a:t>
            </a:r>
          </a:p>
          <a:p>
            <a:r>
              <a:rPr lang="en-US"/>
              <a:t>UserService userService=ctx.getBean(“userService”)</a:t>
            </a:r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4530C12-17E1-A794-E18D-B167C52DC2A4}"/>
              </a:ext>
            </a:extLst>
          </p:cNvPr>
          <p:cNvCxnSpPr/>
          <p:nvPr/>
        </p:nvCxnSpPr>
        <p:spPr bwMode="auto">
          <a:xfrm flipH="1">
            <a:off x="5913120" y="3921760"/>
            <a:ext cx="3230880" cy="17272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9C3C900-D13F-1F12-DB76-B44C7B9BF613}"/>
              </a:ext>
            </a:extLst>
          </p:cNvPr>
          <p:cNvSpPr txBox="1"/>
          <p:nvPr/>
        </p:nvSpPr>
        <p:spPr>
          <a:xfrm>
            <a:off x="7967232" y="5441925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Spring DI Container/IOC</a:t>
            </a:r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6BE331-4981-8D6D-D5FA-C4AD477B650B}"/>
              </a:ext>
            </a:extLst>
          </p:cNvPr>
          <p:cNvSpPr txBox="1"/>
          <p:nvPr/>
        </p:nvSpPr>
        <p:spPr>
          <a:xfrm>
            <a:off x="9448808" y="2350480"/>
            <a:ext cx="18485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Dpenedency injection</a:t>
            </a:r>
            <a:endParaRPr lang="en-IN" sz="12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591085-D852-BD29-2FA3-955632E9E5BB}"/>
              </a:ext>
            </a:extLst>
          </p:cNvPr>
          <p:cNvSpPr/>
          <p:nvPr/>
        </p:nvSpPr>
        <p:spPr bwMode="auto">
          <a:xfrm>
            <a:off x="193040" y="508000"/>
            <a:ext cx="6588106" cy="4718149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B0CEF2-F6EA-5C09-C5B1-D76BA19D6A8F}"/>
              </a:ext>
            </a:extLst>
          </p:cNvPr>
          <p:cNvSpPr txBox="1"/>
          <p:nvPr/>
        </p:nvSpPr>
        <p:spPr>
          <a:xfrm>
            <a:off x="4906569" y="727378"/>
            <a:ext cx="1698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configuration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40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2.59259E-6 L 0.47253 0.1363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55" y="6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7037E-7 L 0.29388 0.0773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87" y="3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BCE02F-34FE-6E06-D201-26AE0D1DB8C6}"/>
              </a:ext>
            </a:extLst>
          </p:cNvPr>
          <p:cNvSpPr txBox="1">
            <a:spLocks/>
          </p:cNvSpPr>
          <p:nvPr/>
        </p:nvSpPr>
        <p:spPr>
          <a:xfrm>
            <a:off x="812800" y="152400"/>
            <a:ext cx="10668000" cy="914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Bean Scopes</a:t>
            </a:r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FEB71-482D-5A1D-2017-7E1E7278CBAB}"/>
              </a:ext>
            </a:extLst>
          </p:cNvPr>
          <p:cNvSpPr txBox="1"/>
          <p:nvPr/>
        </p:nvSpPr>
        <p:spPr>
          <a:xfrm>
            <a:off x="3302000" y="2534727"/>
            <a:ext cx="6096000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0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"singleton"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US" sz="2000" b="0">
                <a:solidFill>
                  <a:srgbClr val="A0A1A7"/>
                </a:solidFill>
                <a:effectLst/>
                <a:latin typeface="Consolas" panose="020B0609020204030204" pitchFamily="49" charset="0"/>
              </a:rPr>
              <a:t>// Default scope</a:t>
            </a:r>
            <a:endParaRPr lang="en-US" sz="20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MyBean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81E8A-6BE2-95B8-1677-D74718272A69}"/>
              </a:ext>
            </a:extLst>
          </p:cNvPr>
          <p:cNvSpPr txBox="1"/>
          <p:nvPr/>
        </p:nvSpPr>
        <p:spPr>
          <a:xfrm>
            <a:off x="579120" y="1205517"/>
            <a:ext cx="10769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Sigleton(Default)</a:t>
            </a:r>
          </a:p>
          <a:p>
            <a:pPr lvl="1"/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A single instance of the bean is created and shared across the entire Spring container.</a:t>
            </a:r>
            <a:endParaRPr lang="en-IN" sz="220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9DB19-B06E-5CD2-6530-BB04AA0C6E45}"/>
              </a:ext>
            </a:extLst>
          </p:cNvPr>
          <p:cNvSpPr txBox="1"/>
          <p:nvPr/>
        </p:nvSpPr>
        <p:spPr>
          <a:xfrm>
            <a:off x="579120" y="4159767"/>
            <a:ext cx="1076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2. Prototype</a:t>
            </a:r>
          </a:p>
          <a:p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   A new instance of the bean is created every time it is requested.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3F160-F7C5-F7D5-8787-489F6E103B8E}"/>
              </a:ext>
            </a:extLst>
          </p:cNvPr>
          <p:cNvSpPr txBox="1"/>
          <p:nvPr/>
        </p:nvSpPr>
        <p:spPr>
          <a:xfrm>
            <a:off x="3302000" y="5098485"/>
            <a:ext cx="6096000" cy="11079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"prototype"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MyBean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268944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625A-C406-729C-54B8-F92FACF7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1DC28DD-7F61-6B27-1A79-78C764E2F347}"/>
              </a:ext>
            </a:extLst>
          </p:cNvPr>
          <p:cNvSpPr txBox="1">
            <a:spLocks/>
          </p:cNvSpPr>
          <p:nvPr/>
        </p:nvSpPr>
        <p:spPr>
          <a:xfrm>
            <a:off x="812800" y="152400"/>
            <a:ext cx="10668000" cy="914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Bean Scopes</a:t>
            </a:r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DE72D-F810-F38E-5BA6-54191B590563}"/>
              </a:ext>
            </a:extLst>
          </p:cNvPr>
          <p:cNvSpPr txBox="1"/>
          <p:nvPr/>
        </p:nvSpPr>
        <p:spPr>
          <a:xfrm>
            <a:off x="3200400" y="2413337"/>
            <a:ext cx="6096000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0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"request"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MyRequestScopedBean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38B8C-3782-0158-248F-AA321ACE85D4}"/>
              </a:ext>
            </a:extLst>
          </p:cNvPr>
          <p:cNvSpPr txBox="1"/>
          <p:nvPr/>
        </p:nvSpPr>
        <p:spPr>
          <a:xfrm>
            <a:off x="579120" y="1205517"/>
            <a:ext cx="1076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3. Request (Web Context Only)</a:t>
            </a:r>
          </a:p>
          <a:p>
            <a:r>
              <a:rPr lang="en-US" sz="2200">
                <a:latin typeface="+mj-lt"/>
                <a:cs typeface="Calibri" panose="020F0502020204030204" pitchFamily="34" charset="0"/>
              </a:rPr>
              <a:t>     </a:t>
            </a:r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A new bean instance is created for each HTTP request.</a:t>
            </a:r>
            <a:endParaRPr lang="en-IN" sz="220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D6A51-0E53-554A-17DB-F804053F8479}"/>
              </a:ext>
            </a:extLst>
          </p:cNvPr>
          <p:cNvSpPr txBox="1"/>
          <p:nvPr/>
        </p:nvSpPr>
        <p:spPr>
          <a:xfrm>
            <a:off x="579120" y="3924069"/>
            <a:ext cx="1076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+mj-lt"/>
                <a:cs typeface="Calibri" panose="020F0502020204030204" pitchFamily="34" charset="0"/>
              </a:rPr>
              <a:t>4. </a:t>
            </a:r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Session (Web Context Only)</a:t>
            </a:r>
          </a:p>
          <a:p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   A new bean instance is created for each HTTP session.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A5603-7EFE-C895-3D5A-A1B9990FD595}"/>
              </a:ext>
            </a:extLst>
          </p:cNvPr>
          <p:cNvSpPr txBox="1"/>
          <p:nvPr/>
        </p:nvSpPr>
        <p:spPr>
          <a:xfrm>
            <a:off x="3200400" y="4867653"/>
            <a:ext cx="6096000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0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"session"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MySessionScopedBean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4022414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84A87-8604-A9B4-1830-AE31393C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31B0C26-E77B-3169-243C-40B0D4BE6BCE}"/>
              </a:ext>
            </a:extLst>
          </p:cNvPr>
          <p:cNvSpPr txBox="1">
            <a:spLocks/>
          </p:cNvSpPr>
          <p:nvPr/>
        </p:nvSpPr>
        <p:spPr>
          <a:xfrm>
            <a:off x="812800" y="152400"/>
            <a:ext cx="10668000" cy="914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b="1"/>
              <a:t>Bean Scopes</a:t>
            </a:r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F444D-89BD-ED01-044F-5AAF9AE855F2}"/>
              </a:ext>
            </a:extLst>
          </p:cNvPr>
          <p:cNvSpPr txBox="1"/>
          <p:nvPr/>
        </p:nvSpPr>
        <p:spPr>
          <a:xfrm>
            <a:off x="3200400" y="2413337"/>
            <a:ext cx="6096000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0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"application"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MyApplicationScopedBean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48D3DD-C835-65BA-165A-0AC4F635E2F0}"/>
              </a:ext>
            </a:extLst>
          </p:cNvPr>
          <p:cNvSpPr txBox="1"/>
          <p:nvPr/>
        </p:nvSpPr>
        <p:spPr>
          <a:xfrm>
            <a:off x="579120" y="1205517"/>
            <a:ext cx="110439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+mj-lt"/>
                <a:cs typeface="Calibri" panose="020F0502020204030204" pitchFamily="34" charset="0"/>
              </a:rPr>
              <a:t>5. </a:t>
            </a:r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Application (Web Context Only)</a:t>
            </a:r>
          </a:p>
          <a:p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   A single bean instance is shared across the entire web application context.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BC6CD5-9EEE-8916-1359-EF610D84F0D8}"/>
              </a:ext>
            </a:extLst>
          </p:cNvPr>
          <p:cNvSpPr txBox="1"/>
          <p:nvPr/>
        </p:nvSpPr>
        <p:spPr>
          <a:xfrm>
            <a:off x="579120" y="3867379"/>
            <a:ext cx="1076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+mj-lt"/>
                <a:cs typeface="Calibri" panose="020F0502020204030204" pitchFamily="34" charset="0"/>
              </a:rPr>
              <a:t>6. </a:t>
            </a:r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WebSocket (Web Context Only)</a:t>
            </a:r>
          </a:p>
          <a:p>
            <a:r>
              <a:rPr lang="en-US" sz="2200">
                <a:effectLst/>
                <a:latin typeface="+mj-lt"/>
                <a:cs typeface="Calibri" panose="020F0502020204030204" pitchFamily="34" charset="0"/>
              </a:rPr>
              <a:t>   A single bean instance is created per WebSocket session.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541E1-1804-33F8-BBCD-D30B654C4A6C}"/>
              </a:ext>
            </a:extLst>
          </p:cNvPr>
          <p:cNvSpPr txBox="1"/>
          <p:nvPr/>
        </p:nvSpPr>
        <p:spPr>
          <a:xfrm>
            <a:off x="3200400" y="4867653"/>
            <a:ext cx="6096000" cy="101566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0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“websocket"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MyWebsocketScopedBean</a:t>
            </a:r>
            <a:r>
              <a:rPr lang="en-US" sz="20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 }</a:t>
            </a:r>
          </a:p>
        </p:txBody>
      </p:sp>
    </p:spTree>
    <p:extLst>
      <p:ext uri="{BB962C8B-B14F-4D97-AF65-F5344CB8AC3E}">
        <p14:creationId xmlns:p14="http://schemas.microsoft.com/office/powerpoint/2010/main" val="73548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29D40F-5010-917F-84F5-02E1DD864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961533"/>
            <a:ext cx="10883769" cy="5053187"/>
          </a:xfrm>
        </p:spPr>
        <p:txBody>
          <a:bodyPr/>
          <a:lstStyle/>
          <a:p>
            <a:r>
              <a:rPr lang="en-US"/>
              <a:t>Autowire byType</a:t>
            </a:r>
          </a:p>
          <a:p>
            <a:pPr lvl="1"/>
            <a:r>
              <a:rPr lang="en-US"/>
              <a:t>Uses @autowired</a:t>
            </a:r>
          </a:p>
          <a:p>
            <a:r>
              <a:rPr lang="en-IN"/>
              <a:t>Autowire byName</a:t>
            </a:r>
          </a:p>
          <a:p>
            <a:pPr lvl="1"/>
            <a:r>
              <a:rPr lang="en-IN"/>
              <a:t>Uses @Autowired + @Qualifier</a:t>
            </a:r>
          </a:p>
          <a:p>
            <a:r>
              <a:rPr lang="en-IN"/>
              <a:t>Autowire By Constructor</a:t>
            </a:r>
          </a:p>
          <a:p>
            <a:pPr lvl="1"/>
            <a:r>
              <a:rPr lang="en-IN"/>
              <a:t>Uses either ByType or ByName and Constructor</a:t>
            </a:r>
          </a:p>
          <a:p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0B2AB65-E5F1-B3C6-0FCA-2EE28D0251D3}"/>
              </a:ext>
            </a:extLst>
          </p:cNvPr>
          <p:cNvSpPr txBox="1">
            <a:spLocks/>
          </p:cNvSpPr>
          <p:nvPr/>
        </p:nvSpPr>
        <p:spPr>
          <a:xfrm>
            <a:off x="812800" y="152400"/>
            <a:ext cx="10668000" cy="914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Bean Autowiring Types</a:t>
            </a:r>
          </a:p>
        </p:txBody>
      </p:sp>
    </p:spTree>
    <p:extLst>
      <p:ext uri="{BB962C8B-B14F-4D97-AF65-F5344CB8AC3E}">
        <p14:creationId xmlns:p14="http://schemas.microsoft.com/office/powerpoint/2010/main" val="2584656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920CA3-791A-76A4-8FEC-37D714E6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300480"/>
            <a:ext cx="10883769" cy="1584960"/>
          </a:xfrm>
        </p:spPr>
        <p:txBody>
          <a:bodyPr/>
          <a:lstStyle/>
          <a:p>
            <a:r>
              <a:rPr lang="en-US"/>
              <a:t>Spring injects a dependency based on the type of the property.</a:t>
            </a:r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596196-6B66-0F3C-E271-14E3F5CCDE8F}"/>
              </a:ext>
            </a:extLst>
          </p:cNvPr>
          <p:cNvSpPr txBox="1">
            <a:spLocks/>
          </p:cNvSpPr>
          <p:nvPr/>
        </p:nvSpPr>
        <p:spPr>
          <a:xfrm>
            <a:off x="762000" y="207947"/>
            <a:ext cx="10668000" cy="914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Autowiring by Type (Uses @Autowired)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A54C1-D63C-9129-918F-CC6EC333330C}"/>
              </a:ext>
            </a:extLst>
          </p:cNvPr>
          <p:cNvSpPr txBox="1"/>
          <p:nvPr/>
        </p:nvSpPr>
        <p:spPr>
          <a:xfrm>
            <a:off x="2509520" y="2662587"/>
            <a:ext cx="6096000" cy="21236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MyService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endParaRPr lang="en-US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Autowired</a:t>
            </a:r>
            <a:endParaRPr lang="en-US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9271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2C6F-1920-1DBE-2870-1CF34B813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38078E-A0BA-9837-3052-EDB2C46C5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300480"/>
            <a:ext cx="10883769" cy="1033205"/>
          </a:xfrm>
        </p:spPr>
        <p:txBody>
          <a:bodyPr/>
          <a:lstStyle/>
          <a:p>
            <a:r>
              <a:rPr lang="en-US"/>
              <a:t>If multiple beans of the same type exist, we can specify which one to inject using @Qualifier.</a:t>
            </a:r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2FA2DD-0773-CA1F-D84F-E4F66CC3AE66}"/>
              </a:ext>
            </a:extLst>
          </p:cNvPr>
          <p:cNvSpPr txBox="1">
            <a:spLocks/>
          </p:cNvSpPr>
          <p:nvPr/>
        </p:nvSpPr>
        <p:spPr>
          <a:xfrm>
            <a:off x="711200" y="258301"/>
            <a:ext cx="10668000" cy="672891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Autowiring by Name (@Autowired + @Qualifier)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026991-6CB3-4BAA-E838-19C4EEBD890D}"/>
              </a:ext>
            </a:extLst>
          </p:cNvPr>
          <p:cNvSpPr txBox="1"/>
          <p:nvPr/>
        </p:nvSpPr>
        <p:spPr>
          <a:xfrm>
            <a:off x="2169160" y="2602498"/>
            <a:ext cx="7853680" cy="34778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"myCustomRepo"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 }</a:t>
            </a:r>
          </a:p>
          <a:p>
            <a:pPr>
              <a:buNone/>
            </a:pPr>
            <a:endParaRPr lang="en-US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US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MyService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Autowired</a:t>
            </a:r>
            <a:endParaRPr lang="en-US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Qualifier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>
                <a:solidFill>
                  <a:srgbClr val="96E072"/>
                </a:solidFill>
                <a:effectLst/>
                <a:latin typeface="Consolas" panose="020B0609020204030204" pitchFamily="49" charset="0"/>
              </a:rPr>
              <a:t>"myCustomRepo"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22117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8674-C24B-4C56-B9CE-E4179A62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4894B1-F1AA-83A3-330F-47C70BC18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300480"/>
            <a:ext cx="10883769" cy="1473200"/>
          </a:xfrm>
        </p:spPr>
        <p:txBody>
          <a:bodyPr/>
          <a:lstStyle/>
          <a:p>
            <a:r>
              <a:rPr lang="en-US"/>
              <a:t>Uses </a:t>
            </a:r>
            <a:r>
              <a:rPr lang="en-US" b="1"/>
              <a:t>@Autowired </a:t>
            </a:r>
            <a:r>
              <a:rPr lang="en-US"/>
              <a:t>on Constructor</a:t>
            </a:r>
          </a:p>
          <a:p>
            <a:r>
              <a:rPr lang="en-US"/>
              <a:t>If multiple beans of the same type exist, we can specify which one to inject using </a:t>
            </a:r>
            <a:r>
              <a:rPr lang="en-US" b="1"/>
              <a:t>@Qualifier</a:t>
            </a:r>
            <a:r>
              <a:rPr lang="en-US"/>
              <a:t>.</a:t>
            </a:r>
            <a:endParaRPr lang="en-I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0660B7-34B8-FB91-666D-10A3B44B098E}"/>
              </a:ext>
            </a:extLst>
          </p:cNvPr>
          <p:cNvSpPr txBox="1">
            <a:spLocks/>
          </p:cNvSpPr>
          <p:nvPr/>
        </p:nvSpPr>
        <p:spPr>
          <a:xfrm>
            <a:off x="762000" y="175896"/>
            <a:ext cx="10668000" cy="9144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folHlink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folHlink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Autowiring by Constructor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11905-B375-ED2C-3B4F-394E90E71C2B}"/>
              </a:ext>
            </a:extLst>
          </p:cNvPr>
          <p:cNvSpPr txBox="1"/>
          <p:nvPr/>
        </p:nvSpPr>
        <p:spPr>
          <a:xfrm>
            <a:off x="2226244" y="2954655"/>
            <a:ext cx="7853680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Component</a:t>
            </a:r>
            <a:endParaRPr lang="en-IN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MyService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Autowired</a:t>
            </a:r>
            <a:endParaRPr lang="en-IN" sz="2200" b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FFE66D"/>
                </a:solidFill>
                <a:effectLst/>
                <a:latin typeface="Consolas" panose="020B0609020204030204" pitchFamily="49" charset="0"/>
              </a:rPr>
              <a:t>MyService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200" b="0">
                <a:solidFill>
                  <a:srgbClr val="C74DED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200" b="0">
                <a:solidFill>
                  <a:srgbClr val="00E8C6"/>
                </a:solidFill>
                <a:effectLst/>
                <a:latin typeface="Consolas" panose="020B0609020204030204" pitchFamily="49" charset="0"/>
              </a:rPr>
              <a:t>myRepository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200" b="0">
                <a:solidFill>
                  <a:srgbClr val="EE5D4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myRepository;</a:t>
            </a:r>
          </a:p>
          <a:p>
            <a:pPr>
              <a:buNone/>
            </a:pPr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2200" b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7300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7973B2-DE80-4556-A6A2-F644BC4B09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Spring Framework Annotations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DD4D8B7-2874-4912-A351-F55F41C08F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Limited to Spring Core Configuration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0F9A7-F61B-4FC2-8973-A01EC273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362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6317-EB61-434E-AE4D-AE1803708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Annotations To Define a Bean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82E3B-7173-4769-A533-2603AEC79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 Level Annotations (Used before Class definition)</a:t>
            </a:r>
          </a:p>
          <a:p>
            <a:pPr lvl="1"/>
            <a:r>
              <a:rPr lang="en-IN" dirty="0"/>
              <a:t>@Component</a:t>
            </a:r>
          </a:p>
          <a:p>
            <a:pPr lvl="1"/>
            <a:r>
              <a:rPr lang="en-IN" dirty="0"/>
              <a:t>@Service</a:t>
            </a:r>
          </a:p>
          <a:p>
            <a:pPr lvl="1"/>
            <a:r>
              <a:rPr lang="en-IN" dirty="0"/>
              <a:t>@Repository</a:t>
            </a:r>
          </a:p>
          <a:p>
            <a:pPr lvl="1"/>
            <a:r>
              <a:rPr lang="en-IN" dirty="0"/>
              <a:t>@Controller</a:t>
            </a:r>
          </a:p>
          <a:p>
            <a:pPr lvl="1"/>
            <a:r>
              <a:rPr lang="en-IN" dirty="0"/>
              <a:t>@Configuration</a:t>
            </a:r>
          </a:p>
          <a:p>
            <a:r>
              <a:rPr lang="en-IN" dirty="0"/>
              <a:t>Method Level Annotations (used before method)</a:t>
            </a:r>
          </a:p>
          <a:p>
            <a:pPr lvl="1"/>
            <a:r>
              <a:rPr lang="en-IN" dirty="0"/>
              <a:t>@Bean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9B8C7-E477-475A-A40D-47B2FE3F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29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1074-1680-4415-B6C6-6CA5B061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(Type level)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A8AA7-4A9B-45DD-B754-7605F810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436A4-902B-40A8-82E5-C6D9F8DE9D44}"/>
              </a:ext>
            </a:extLst>
          </p:cNvPr>
          <p:cNvSpPr txBox="1"/>
          <p:nvPr/>
        </p:nvSpPr>
        <p:spPr>
          <a:xfrm>
            <a:off x="2108983" y="1516220"/>
            <a:ext cx="3238387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@Repository</a:t>
            </a:r>
          </a:p>
          <a:p>
            <a:r>
              <a:rPr lang="en-IN" dirty="0">
                <a:solidFill>
                  <a:srgbClr val="000000"/>
                </a:solidFill>
              </a:rPr>
              <a:t>public class </a:t>
            </a:r>
            <a:r>
              <a:rPr lang="en-IN" dirty="0" err="1">
                <a:solidFill>
                  <a:srgbClr val="000000"/>
                </a:solidFill>
              </a:rPr>
              <a:t>JdbcDaoImpl</a:t>
            </a:r>
            <a:r>
              <a:rPr lang="en-IN" dirty="0">
                <a:solidFill>
                  <a:srgbClr val="000000"/>
                </a:solidFill>
              </a:rPr>
              <a:t>{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91F19-40E3-429A-8B06-3FE7035A09DC}"/>
              </a:ext>
            </a:extLst>
          </p:cNvPr>
          <p:cNvSpPr txBox="1"/>
          <p:nvPr/>
        </p:nvSpPr>
        <p:spPr>
          <a:xfrm>
            <a:off x="6134101" y="1516220"/>
            <a:ext cx="3105337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@Service</a:t>
            </a:r>
          </a:p>
          <a:p>
            <a:r>
              <a:rPr lang="en-IN" dirty="0">
                <a:solidFill>
                  <a:srgbClr val="000000"/>
                </a:solidFill>
              </a:rPr>
              <a:t>public class </a:t>
            </a:r>
            <a:r>
              <a:rPr lang="en-IN" dirty="0" err="1">
                <a:solidFill>
                  <a:srgbClr val="000000"/>
                </a:solidFill>
              </a:rPr>
              <a:t>EmpService</a:t>
            </a:r>
            <a:r>
              <a:rPr lang="en-IN" dirty="0">
                <a:solidFill>
                  <a:srgbClr val="000000"/>
                </a:solidFill>
              </a:rPr>
              <a:t>{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61CE3-9F1E-4F98-998A-F163C3D62595}"/>
              </a:ext>
            </a:extLst>
          </p:cNvPr>
          <p:cNvSpPr txBox="1"/>
          <p:nvPr/>
        </p:nvSpPr>
        <p:spPr>
          <a:xfrm>
            <a:off x="2071469" y="3442968"/>
            <a:ext cx="3049233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@Component</a:t>
            </a:r>
          </a:p>
          <a:p>
            <a:r>
              <a:rPr lang="en-IN" dirty="0">
                <a:solidFill>
                  <a:srgbClr val="000000"/>
                </a:solidFill>
              </a:rPr>
              <a:t>public class </a:t>
            </a:r>
            <a:r>
              <a:rPr lang="en-IN" dirty="0" err="1">
                <a:solidFill>
                  <a:srgbClr val="000000"/>
                </a:solidFill>
              </a:rPr>
              <a:t>PrintAspect</a:t>
            </a:r>
            <a:r>
              <a:rPr lang="en-IN" dirty="0">
                <a:solidFill>
                  <a:srgbClr val="000000"/>
                </a:solidFill>
              </a:rPr>
              <a:t>{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5123BD-2CB4-4302-8C2D-2F1B83CFDD4A}"/>
              </a:ext>
            </a:extLst>
          </p:cNvPr>
          <p:cNvSpPr txBox="1"/>
          <p:nvPr/>
        </p:nvSpPr>
        <p:spPr>
          <a:xfrm>
            <a:off x="6067574" y="3429000"/>
            <a:ext cx="3501280" cy="14773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@Controller</a:t>
            </a:r>
          </a:p>
          <a:p>
            <a:r>
              <a:rPr lang="en-IN" dirty="0">
                <a:solidFill>
                  <a:srgbClr val="000000"/>
                </a:solidFill>
              </a:rPr>
              <a:t>public class </a:t>
            </a:r>
            <a:r>
              <a:rPr lang="en-IN" dirty="0" err="1">
                <a:solidFill>
                  <a:srgbClr val="000000"/>
                </a:solidFill>
              </a:rPr>
              <a:t>LoginController</a:t>
            </a:r>
            <a:r>
              <a:rPr lang="en-IN" dirty="0">
                <a:solidFill>
                  <a:srgbClr val="000000"/>
                </a:solidFill>
              </a:rPr>
              <a:t>{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91564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1074-1680-4415-B6C6-6CA5B061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(method level)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A8AA7-4A9B-45DD-B754-7605F810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692FC-70F7-4D73-99EB-EC32186B5184}"/>
              </a:ext>
            </a:extLst>
          </p:cNvPr>
          <p:cNvSpPr txBox="1"/>
          <p:nvPr/>
        </p:nvSpPr>
        <p:spPr>
          <a:xfrm>
            <a:off x="2133600" y="1600200"/>
            <a:ext cx="6934200" cy="286232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@Configuration</a:t>
            </a:r>
          </a:p>
          <a:p>
            <a:r>
              <a:rPr lang="en-IN" dirty="0">
                <a:solidFill>
                  <a:srgbClr val="000000"/>
                </a:solidFill>
              </a:rPr>
              <a:t>public class </a:t>
            </a:r>
            <a:r>
              <a:rPr lang="en-IN" dirty="0" err="1">
                <a:solidFill>
                  <a:srgbClr val="000000"/>
                </a:solidFill>
              </a:rPr>
              <a:t>JdbcConfig</a:t>
            </a:r>
            <a:r>
              <a:rPr lang="en-IN" dirty="0">
                <a:solidFill>
                  <a:srgbClr val="000000"/>
                </a:solidFill>
              </a:rPr>
              <a:t> {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@Bean	</a:t>
            </a:r>
          </a:p>
          <a:p>
            <a:r>
              <a:rPr lang="en-IN" dirty="0">
                <a:solidFill>
                  <a:srgbClr val="000000"/>
                </a:solidFill>
              </a:rPr>
              <a:t>public </a:t>
            </a:r>
            <a:r>
              <a:rPr lang="en-IN" dirty="0" err="1">
                <a:solidFill>
                  <a:srgbClr val="000000"/>
                </a:solidFill>
              </a:rPr>
              <a:t>DriverManagerDataSource</a:t>
            </a:r>
            <a:r>
              <a:rPr lang="en-IN" dirty="0">
                <a:solidFill>
                  <a:srgbClr val="00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dataSource</a:t>
            </a:r>
            <a:r>
              <a:rPr lang="en-IN" dirty="0">
                <a:solidFill>
                  <a:srgbClr val="000000"/>
                </a:solidFill>
              </a:rPr>
              <a:t>() {</a:t>
            </a:r>
          </a:p>
          <a:p>
            <a:r>
              <a:rPr lang="en-IN" dirty="0">
                <a:solidFill>
                  <a:srgbClr val="000000"/>
                </a:solidFill>
              </a:rPr>
              <a:t>	</a:t>
            </a:r>
          </a:p>
          <a:p>
            <a:r>
              <a:rPr lang="en-IN" dirty="0">
                <a:solidFill>
                  <a:srgbClr val="000000"/>
                </a:solidFill>
              </a:rPr>
              <a:t>	//your code goes here</a:t>
            </a:r>
          </a:p>
          <a:p>
            <a:r>
              <a:rPr lang="en-IN" dirty="0">
                <a:solidFill>
                  <a:srgbClr val="000000"/>
                </a:solidFill>
              </a:rPr>
              <a:t>	return ds;	</a:t>
            </a:r>
          </a:p>
          <a:p>
            <a:endParaRPr lang="en-IN" dirty="0">
              <a:solidFill>
                <a:srgbClr val="000000"/>
              </a:solidFill>
            </a:endParaRPr>
          </a:p>
          <a:p>
            <a:r>
              <a:rPr lang="en-IN" dirty="0">
                <a:solidFill>
                  <a:srgbClr val="0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55572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04EF-6FC2-42EF-B47D-6593F313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Dependency is Injected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EF637-C764-4522-BBF2-42D644956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</a:t>
            </a:r>
            <a:r>
              <a:rPr lang="en-IN" dirty="0">
                <a:solidFill>
                  <a:srgbClr val="FF0000"/>
                </a:solidFill>
              </a:rPr>
              <a:t>@Autowired </a:t>
            </a:r>
            <a:r>
              <a:rPr lang="en-IN" dirty="0"/>
              <a:t>at the injection point to inject Dependency</a:t>
            </a:r>
          </a:p>
          <a:p>
            <a:r>
              <a:rPr lang="en-IN" dirty="0"/>
              <a:t>@Autowired can be used at following  levels</a:t>
            </a:r>
          </a:p>
          <a:p>
            <a:pPr lvl="1"/>
            <a:r>
              <a:rPr lang="en-IN" dirty="0"/>
              <a:t>Type</a:t>
            </a:r>
          </a:p>
          <a:p>
            <a:pPr lvl="1"/>
            <a:r>
              <a:rPr lang="en-IN" dirty="0"/>
              <a:t>Field</a:t>
            </a:r>
          </a:p>
          <a:p>
            <a:pPr lvl="1"/>
            <a:r>
              <a:rPr lang="en-IN" dirty="0"/>
              <a:t>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E18DE-14EF-43D2-BB48-A1C789E5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37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60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F1FE-0E72-4871-91F9-AB69E8FD8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@Autowired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38BE7-D2AD-4E54-858D-8AF4096A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38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81102-54D1-4DFC-8A55-7A36CE3AA0D2}"/>
              </a:ext>
            </a:extLst>
          </p:cNvPr>
          <p:cNvSpPr txBox="1"/>
          <p:nvPr/>
        </p:nvSpPr>
        <p:spPr>
          <a:xfrm>
            <a:off x="2133600" y="1582341"/>
            <a:ext cx="81534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@Service</a:t>
            </a:r>
          </a:p>
          <a:p>
            <a:r>
              <a:rPr lang="en-US" dirty="0">
                <a:solidFill>
                  <a:srgbClr val="000000"/>
                </a:solidFill>
              </a:rPr>
              <a:t>public class </a:t>
            </a:r>
            <a:r>
              <a:rPr lang="en-US" dirty="0" err="1">
                <a:solidFill>
                  <a:srgbClr val="000000"/>
                </a:solidFill>
              </a:rPr>
              <a:t>HrService</a:t>
            </a:r>
            <a:r>
              <a:rPr lang="en-US" dirty="0">
                <a:solidFill>
                  <a:srgbClr val="000000"/>
                </a:solidFill>
              </a:rPr>
              <a:t> {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@Autowired</a:t>
            </a: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r>
              <a:rPr lang="en-US" dirty="0">
                <a:solidFill>
                  <a:srgbClr val="000000"/>
                </a:solidFill>
              </a:rPr>
              <a:t>private </a:t>
            </a:r>
            <a:r>
              <a:rPr lang="en-US" dirty="0" err="1">
                <a:solidFill>
                  <a:srgbClr val="000000"/>
                </a:solidFill>
              </a:rPr>
              <a:t>EmpDao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dao</a:t>
            </a:r>
            <a:r>
              <a:rPr lang="en-US" dirty="0">
                <a:solidFill>
                  <a:srgbClr val="000000"/>
                </a:solidFill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r>
              <a:rPr lang="en-US" sz="1600" dirty="0">
                <a:solidFill>
                  <a:srgbClr val="000000"/>
                </a:solidFill>
              </a:rPr>
              <a:t>public String </a:t>
            </a:r>
            <a:r>
              <a:rPr lang="en-US" sz="1600" dirty="0" err="1">
                <a:solidFill>
                  <a:srgbClr val="000000"/>
                </a:solidFill>
              </a:rPr>
              <a:t>registerEmp</a:t>
            </a:r>
            <a:r>
              <a:rPr lang="en-US" sz="1600" dirty="0">
                <a:solidFill>
                  <a:srgbClr val="000000"/>
                </a:solidFill>
              </a:rPr>
              <a:t>(int id, String name, String city, double salary) {</a:t>
            </a:r>
          </a:p>
          <a:p>
            <a:r>
              <a:rPr lang="en-US" sz="1600" dirty="0">
                <a:solidFill>
                  <a:srgbClr val="000000"/>
                </a:solidFill>
              </a:rPr>
              <a:t>	</a:t>
            </a:r>
          </a:p>
          <a:p>
            <a:r>
              <a:rPr lang="en-US" sz="1600" dirty="0">
                <a:solidFill>
                  <a:srgbClr val="000000"/>
                </a:solidFill>
              </a:rPr>
              <a:t>String resp=</a:t>
            </a:r>
            <a:r>
              <a:rPr lang="en-US" sz="1600" dirty="0" err="1">
                <a:solidFill>
                  <a:srgbClr val="000000"/>
                </a:solidFill>
              </a:rPr>
              <a:t>dao.save</a:t>
            </a:r>
            <a:r>
              <a:rPr lang="en-US" sz="1600" dirty="0">
                <a:solidFill>
                  <a:srgbClr val="000000"/>
                </a:solidFill>
              </a:rPr>
              <a:t>(new Emp(id, name, city, salary));</a:t>
            </a:r>
          </a:p>
          <a:p>
            <a:r>
              <a:rPr lang="en-US" sz="1600" dirty="0">
                <a:solidFill>
                  <a:srgbClr val="000000"/>
                </a:solidFill>
              </a:rPr>
              <a:t>return resp;</a:t>
            </a:r>
          </a:p>
          <a:p>
            <a:r>
              <a:rPr lang="en-US" dirty="0">
                <a:solidFill>
                  <a:srgbClr val="000000"/>
                </a:solidFill>
              </a:rPr>
              <a:t>	}</a:t>
            </a:r>
          </a:p>
          <a:p>
            <a:r>
              <a:rPr lang="en-US" dirty="0">
                <a:solidFill>
                  <a:srgbClr val="000000"/>
                </a:solidFill>
              </a:rPr>
              <a:t>}</a:t>
            </a:r>
            <a:endParaRPr lang="en-I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5964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E586-D91A-40A0-85E9-639F9B34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Loading Annotated 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8A107-4723-4A37-B4B8-1071141C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Every Spring Application has at least one Configuration class </a:t>
            </a:r>
          </a:p>
          <a:p>
            <a:pPr lvl="1"/>
            <a:r>
              <a:rPr lang="en-IN" dirty="0"/>
              <a:t>annotated with </a:t>
            </a:r>
            <a:r>
              <a:rPr lang="en-IN" dirty="0">
                <a:solidFill>
                  <a:srgbClr val="FF0000"/>
                </a:solidFill>
              </a:rPr>
              <a:t>@Configuration</a:t>
            </a:r>
          </a:p>
          <a:p>
            <a:r>
              <a:rPr lang="en-IN" dirty="0">
                <a:solidFill>
                  <a:srgbClr val="003366"/>
                </a:solidFill>
              </a:rPr>
              <a:t>Spring Framework uses </a:t>
            </a:r>
            <a:r>
              <a:rPr lang="en-IN" dirty="0">
                <a:solidFill>
                  <a:srgbClr val="FF0000"/>
                </a:solidFill>
              </a:rPr>
              <a:t>@ComponentScan </a:t>
            </a:r>
            <a:r>
              <a:rPr lang="en-IN" dirty="0">
                <a:solidFill>
                  <a:srgbClr val="003366"/>
                </a:solidFill>
              </a:rPr>
              <a:t>to locate annotated beans in the project</a:t>
            </a:r>
          </a:p>
          <a:p>
            <a:r>
              <a:rPr lang="en-IN" dirty="0">
                <a:solidFill>
                  <a:srgbClr val="003366"/>
                </a:solidFill>
              </a:rPr>
              <a:t>You are generally advised to keep the main configuration class in the base package.</a:t>
            </a:r>
          </a:p>
          <a:p>
            <a:endParaRPr lang="en-IN" dirty="0">
              <a:solidFill>
                <a:srgbClr val="00336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281B6-7D24-451F-A358-70532C3E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5279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00FB-CFE2-4BEA-8808-31CD1D4AD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D14E7-35C1-49EF-8AA8-717BAC1DB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40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73AC13-18AB-4BED-B496-DCB14D351D00}"/>
              </a:ext>
            </a:extLst>
          </p:cNvPr>
          <p:cNvSpPr txBox="1"/>
          <p:nvPr/>
        </p:nvSpPr>
        <p:spPr>
          <a:xfrm>
            <a:off x="2133600" y="1371601"/>
            <a:ext cx="6096000" cy="258532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646464"/>
                </a:solidFill>
                <a:latin typeface="Consolas" panose="020B0609020204030204" pitchFamily="49" charset="0"/>
              </a:rPr>
              <a:t>@Configuration</a:t>
            </a:r>
          </a:p>
          <a:p>
            <a:r>
              <a:rPr lang="en-IN" dirty="0">
                <a:solidFill>
                  <a:srgbClr val="646464"/>
                </a:solidFill>
                <a:latin typeface="Consolas" panose="020B0609020204030204" pitchFamily="49" charset="0"/>
              </a:rPr>
              <a:t>@ComponentScan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(basePackages=</a:t>
            </a:r>
            <a:r>
              <a:rPr lang="en-IN" dirty="0">
                <a:solidFill>
                  <a:srgbClr val="2A00FF"/>
                </a:solidFill>
                <a:latin typeface="Consolas" panose="020B0609020204030204" pitchFamily="49" charset="0"/>
              </a:rPr>
              <a:t>"com.demo.spring"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AppConfig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646464"/>
                </a:solidFill>
                <a:latin typeface="Consolas" panose="020B0609020204030204" pitchFamily="49" charset="0"/>
              </a:rPr>
              <a:t>@Bean</a:t>
            </a:r>
          </a:p>
          <a:p>
            <a:r>
              <a:rPr lang="en-I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EmpDaoJPAImpl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jpaBean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EmpDaoJPAImpl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5D880-B2F7-41F4-A52B-0F9F72C26444}"/>
              </a:ext>
            </a:extLst>
          </p:cNvPr>
          <p:cNvSpPr txBox="1"/>
          <p:nvPr/>
        </p:nvSpPr>
        <p:spPr>
          <a:xfrm>
            <a:off x="2107809" y="4286072"/>
            <a:ext cx="7721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ApplicationContext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u="sng" dirty="0" err="1">
                <a:solidFill>
                  <a:srgbClr val="6A3E3E"/>
                </a:solidFill>
                <a:latin typeface="Consolas" panose="020B0609020204030204" pitchFamily="49" charset="0"/>
              </a:rPr>
              <a:t>ctx</a:t>
            </a:r>
            <a:endParaRPr lang="en-IN" u="sng" dirty="0">
              <a:solidFill>
                <a:srgbClr val="6A3E3E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AnnotationConfigApplicationContext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AppConfig.</a:t>
            </a:r>
            <a:r>
              <a:rPr lang="en-IN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I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>
              <a:solidFill>
                <a:srgbClr val="00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F684ED-8628-41D1-B338-98DBF537CC7C}"/>
              </a:ext>
            </a:extLst>
          </p:cNvPr>
          <p:cNvCxnSpPr/>
          <p:nvPr/>
        </p:nvCxnSpPr>
        <p:spPr bwMode="auto">
          <a:xfrm flipH="1" flipV="1">
            <a:off x="7239000" y="3956924"/>
            <a:ext cx="838200" cy="6912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9F94CFC-FDD7-4F20-9912-5E3EDADA95D6}"/>
              </a:ext>
            </a:extLst>
          </p:cNvPr>
          <p:cNvSpPr txBox="1"/>
          <p:nvPr/>
        </p:nvSpPr>
        <p:spPr>
          <a:xfrm>
            <a:off x="1722367" y="5233648"/>
            <a:ext cx="8747266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</a:rPr>
              <a:t>The Spring Container will be created from the </a:t>
            </a:r>
            <a:r>
              <a:rPr lang="en-IN" b="1" dirty="0" err="1">
                <a:solidFill>
                  <a:srgbClr val="000000"/>
                </a:solidFill>
              </a:rPr>
              <a:t>AppConfig</a:t>
            </a:r>
            <a:r>
              <a:rPr lang="en-IN" dirty="0">
                <a:solidFill>
                  <a:srgbClr val="000000"/>
                </a:solidFill>
              </a:rPr>
              <a:t> Class </a:t>
            </a:r>
          </a:p>
          <a:p>
            <a:r>
              <a:rPr lang="en-IN" dirty="0">
                <a:solidFill>
                  <a:srgbClr val="000000"/>
                </a:solidFill>
              </a:rPr>
              <a:t>and spring will scan all the sub packages of “</a:t>
            </a:r>
            <a:r>
              <a:rPr lang="en-IN" dirty="0" err="1">
                <a:solidFill>
                  <a:srgbClr val="000000"/>
                </a:solidFill>
              </a:rPr>
              <a:t>com.demo.spring</a:t>
            </a:r>
            <a:r>
              <a:rPr lang="en-IN" dirty="0">
                <a:solidFill>
                  <a:srgbClr val="000000"/>
                </a:solidFill>
              </a:rPr>
              <a:t>” including </a:t>
            </a:r>
          </a:p>
          <a:p>
            <a:r>
              <a:rPr lang="en-IN" dirty="0">
                <a:solidFill>
                  <a:srgbClr val="000000"/>
                </a:solidFill>
              </a:rPr>
              <a:t>the base package</a:t>
            </a:r>
          </a:p>
        </p:txBody>
      </p:sp>
    </p:spTree>
    <p:extLst>
      <p:ext uri="{BB962C8B-B14F-4D97-AF65-F5344CB8AC3E}">
        <p14:creationId xmlns:p14="http://schemas.microsoft.com/office/powerpoint/2010/main" val="738360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396A-75F3-4C40-A588-F12107F4A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D24B1-E479-4F09-BD99-A1E312BAA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2590800"/>
            <a:ext cx="7010400" cy="12954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We will See some Demonstration  on Spring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0A60F-EB6A-43B2-A2F7-A4375691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940BC-09D8-4381-B008-EA614523CDCF}" type="slidenum">
              <a:rPr lang="en-US">
                <a:solidFill>
                  <a:srgbClr val="000000"/>
                </a:solidFill>
              </a:rPr>
              <a:pPr>
                <a:defRPr/>
              </a:pPr>
              <a:t>41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68038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oodone2.potx" id="{F68FAB02-69FD-422E-A03C-7BF06C14698F}" vid="{E0979AF5-DD48-40FD-A517-08917485A615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goodone2</Template>
  <TotalTime>1519</TotalTime>
  <Words>1861</Words>
  <Application>Microsoft Office PowerPoint</Application>
  <PresentationFormat>Widescreen</PresentationFormat>
  <Paragraphs>374</Paragraphs>
  <Slides>41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Consolas</vt:lpstr>
      <vt:lpstr>Courier New</vt:lpstr>
      <vt:lpstr>Times New Roman</vt:lpstr>
      <vt:lpstr>Verdana</vt:lpstr>
      <vt:lpstr>Wingdings</vt:lpstr>
      <vt:lpstr>Profile</vt:lpstr>
      <vt:lpstr>1_Profile</vt:lpstr>
      <vt:lpstr>2_Profile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Spring Dependency Injection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Beans and IOC</vt:lpstr>
      <vt:lpstr>Beans</vt:lpstr>
      <vt:lpstr>The IoC container</vt:lpstr>
      <vt:lpstr>The container</vt:lpstr>
      <vt:lpstr>Important Application Contexts</vt:lpstr>
      <vt:lpstr>Configuration metadata</vt:lpstr>
      <vt:lpstr>Instantiating a container</vt:lpstr>
      <vt:lpstr>How Dependency Injectcion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Spring Framework Annotations</vt:lpstr>
      <vt:lpstr>Annotations To Define a Bean</vt:lpstr>
      <vt:lpstr>Examples (Type level)</vt:lpstr>
      <vt:lpstr>Examples (method level)</vt:lpstr>
      <vt:lpstr>How Dependency is Injected</vt:lpstr>
      <vt:lpstr>Example @Autowired</vt:lpstr>
      <vt:lpstr>Loading Annotated Beans</vt:lpstr>
      <vt:lpstr>An Example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Shantanu Banerjee</dc:creator>
  <cp:lastModifiedBy>Shantanu Banerjee</cp:lastModifiedBy>
  <cp:revision>91</cp:revision>
  <dcterms:created xsi:type="dcterms:W3CDTF">2025-03-16T06:56:39Z</dcterms:created>
  <dcterms:modified xsi:type="dcterms:W3CDTF">2025-03-24T02:49:55Z</dcterms:modified>
</cp:coreProperties>
</file>